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A6C74AC2-CC26-4C24-D6F6-A4DC5940BB0A}">
          <p14:sldIdLst>
            <p14:sldId id="256"/>
            <p14:sldId id="257"/>
            <p14:sldId id="258"/>
            <p14:sldId id="259"/>
          </p14:sldIdLst>
        </p14:section>
        <p14:section name="Desarrollo" id="{FA9D9D11-8088-148B-613B-ADBEE1B7A5E5}">
          <p14:sldIdLst>
            <p14:sldId id="260"/>
            <p14:sldId id="261"/>
            <p14:sldId id="262"/>
            <p14:sldId id="263"/>
            <p14:sldId id="264"/>
          </p14:sldIdLst>
        </p14:section>
        <p14:section name="Resultados" id="{CE5945E4-FB77-8C7B-9F8A-1BB164A33400}">
          <p14:sldIdLst>
            <p14:sldId id="265"/>
            <p14:sldId id="266"/>
            <p14:sldId id="267"/>
          </p14:sldIdLst>
        </p14:section>
        <p14:section name="Cierre" id="{9433F4FD-717D-837F-6906-FFF7CA5EAFBB}">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5" d="100"/>
          <a:sy n="145" d="100"/>
        </p:scale>
        <p:origin x="100"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0700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Voy a presentar QC Vision, un sistema de control de calidad de piezas mecanizadas con visión artificial. Yo tomé las fotos del dataset, entrené el modelo en Teachable Machine y programé la aplicación en Python. En unos minutos les muestro el problema, cómo lo resolví, los resultados de las pruebas y sus límites.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inspección de piezas suele hacerse a ojo, y eso depende de quién inspecciona y de las condiciones de luz. En mecanizado aparecen defectos superficiales como rayaduras, rebabas y marcas de chatter. La visión artificial permite automatizar esa revisión y volverla más sistemática, que es el propósito de este proyecto.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es desarrollar QC Vision: una aplicación que adquiere imágenes con una cámara, las clasifica con un modelo entrenado y muestra el resultado con su nivel de confianza. El modelo distingue cuatro clases: pieza aceptable y tres tipos de defecto.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tres defectos que el sistema aprende a reconocer. El chatter nace de vibraciones durante el mecanizado y deja marcas repetitivas en la superficie. Las rayaduras son marcas o rayas visibles. Las rebabas son material sobrante en bordes o zonas mecanizadas. La cuarta clase, Pieza_OK, es la pieza sin ninguno de estos defectos.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Seguí una metodología de desarrollo tecnológico en seis etapas: armar el dataset, entrenar el modelo, desarrollar el software, integrar la cámara con el preprocesamiento, clasificar y mostrar resultados, y finalmente probar el sistema. Las tres primeras etapas, el dataset, el entrenamiento y el código, son trabajo propio.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dataset lo armé yo, fotografiando piezas mecanizadas y organizando las imágenes en cuatro carpetas, una por clase. La calidad y variedad de estos ejemplos es clave, porque el modelo aprende a diferenciar las clases a partir de sus características visuales.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entrenamiento usé Teachable Machine: cargué las imágenes de las cuatro clases y ejecuté el entrenamiento. Al terminar exporté el modelo en formato Keras, que genera el archivo keras_model.h5, y el archivo labels.txt con los nombres de las clases. Esos dos archivos son los que usa mi aplicación.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es: la cámara entrega una imagen; el programa la preprocesa convirtiendo de BGR a RGB, redimensionando a 224 por 224 y normalizando los píxeles entre menos uno y uno; el modelo devuelve cuatro valores, uno por clase; y se elige el más alto. Ese valor multiplicado por 100 es el porcentaje que muestra la interfaz. Ojo: es la confianza del modelo para esa imagen, no la exactitud global del sistema.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interfaz. A la izquierda se ve la cámara en vivo; a la derecha, la clase predicha con el porcentaje de cada clase, y abajo el historial de inspecciones. Se analiza una pieza con el botón Analizar pieza o con la tecla Espacio. El historial guarda hasta 100 registros mientras el programa está abierto.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Probé el sistema con nueve piezas mecanizadas distintas de las que usé para entrenar, algunas aceptables y otras con defectos. Para cada una anoté la categoría real y la comparé con la predicción de QC Vision.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nueve piezas, el sistema clasificó correctamente ocho: una exactitud observada de 88,89 por ciento. El único error fue la pieza P1, una rebaba que el modelo confundió con una rayadura. Es importante aclarar que con una muestra tan chica este número describe el comportamiento observado, no la capacidad de generalización del modelo.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limitaciones principales son el tamaño reducido de la muestra y la confusión entre rebaba y rayadura. Como siguientes pasos propongo ampliar el dataset y las pruebas, sumar más ejemplos de esas dos clases, registrar las predicciones de forma sistemática y evaluar el modelo bajo distintas condiciones de iluminación y orientación.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conclusión, QC Vision es un prototipo funcional que integra el modelo, la cámara y la interfaz. En las pruebas acertó ocho de nueve piezas, con un error entre rebaba y rayadura, y el siguiente paso es ampliar el dataset y las pruebas para evaluarlo con más precisión. Muchas gracias, quedo atenta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88720"/>
            <a:ext cx="4572000" cy="201168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3383280"/>
            <a:ext cx="4572000" cy="1188720"/>
          </a:xfrm>
          <a:prstGeom prst="rect">
            <a:avLst/>
          </a:prstGeom>
          <a:noFill/>
          <a:ln/>
        </p:spPr>
        <p:txBody>
          <a:bodyPr wrap="square" rtlCol="0"/>
          <a:lstStyle>
            <a:lvl1pPr marL="0" indent="0" algn="l">
              <a:buNone/>
              <a:defRPr lang="en-US" sz="1400" dirty="0">
                <a:solidFill>
                  <a:schemeClr val="accent6"/>
                </a:solidFill>
              </a:defRPr>
            </a:lvl1pPr>
          </a:lstStyle>
          <a:p>
            <a:pPr marL="0" indent="0" algn="l">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3" name="Text 0"/>
          <p:cNvSpPr/>
          <p:nvPr/>
        </p:nvSpPr>
        <p:spPr>
          <a:xfrm>
            <a:off x="457200" y="4754880"/>
            <a:ext cx="5486400" cy="228600"/>
          </a:xfrm>
          <a:prstGeom prst="rect">
            <a:avLst/>
          </a:prstGeom>
          <a:noFill/>
          <a:ln/>
        </p:spPr>
        <p:txBody>
          <a:bodyPr wrap="square" lIns="0" tIns="0" rIns="0" bIns="0" rtlCol="0" anchor="ctr"/>
          <a:lstStyle/>
          <a:p>
            <a:pPr marL="0" indent="0">
              <a:buNone/>
            </a:pPr>
            <a:r>
              <a:rPr lang="en-US" sz="1000" dirty="0">
                <a:solidFill>
                  <a:srgbClr val="5F7168"/>
                </a:solidFill>
              </a:rPr>
              <a:t>QC Vision · Control de calidad con visión artificial</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17.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4572000" cy="274320"/>
          </a:xfrm>
          <a:prstGeom prst="rect">
            <a:avLst/>
          </a:prstGeom>
          <a:noFill/>
          <a:ln/>
        </p:spPr>
        <p:txBody>
          <a:bodyPr wrap="square" lIns="0" tIns="0" rIns="0" bIns="0" rtlCol="0" anchor="t"/>
          <a:lstStyle/>
          <a:p>
            <a:pPr marL="0" indent="0">
              <a:buNone/>
            </a:pPr>
            <a:r>
              <a:rPr lang="en-US" sz="1200" b="1" kern="0" spc="200" dirty="0">
                <a:solidFill>
                  <a:schemeClr val="accent6"/>
                </a:solidFill>
              </a:rPr>
              <a:t>ISW-221 · INTELIGENCIA ARTIFICIAL</a:t>
            </a:r>
            <a:endParaRPr lang="en-US" sz="1200" dirty="0"/>
          </a:p>
        </p:txBody>
      </p:sp>
      <p:sp>
        <p:nvSpPr>
          <p:cNvPr id="3" name="Text 0"/>
          <p:cNvSpPr>
            <a:spLocks noGrp="1"/>
          </p:cNvSpPr>
          <p:nvPr>
            <p:ph type="title" idx="100" hasCustomPrompt="1"/>
          </p:nvPr>
        </p:nvSpPr>
        <p:spPr>
          <a:xfrm>
            <a:off x="548640" y="1188720"/>
            <a:ext cx="4572000" cy="2011680"/>
          </a:xfrm>
          <a:prstGeom prst="rect">
            <a:avLst/>
          </a:prstGeom>
          <a:noFill/>
          <a:ln/>
        </p:spPr>
        <p:txBody>
          <a:bodyPr wrap="square" lIns="0" tIns="0" rIns="0" bIns="0" rtlCol="0" anchor="t"/>
          <a:lstStyle/>
          <a:p>
            <a:pPr marL="0" indent="0" algn="l">
              <a:buNone/>
            </a:pPr>
            <a:r>
              <a:rPr lang="en-US" sz="3000" b="1" dirty="0">
                <a:solidFill>
                  <a:schemeClr val="bg1"/>
                </a:solidFill>
              </a:rPr>
              <a:t>Sistema de control de calidad de piezas mecanizadas mediante visión artificial</a:t>
            </a:r>
            <a:endParaRPr lang="en-US" sz="3000" dirty="0"/>
          </a:p>
        </p:txBody>
      </p:sp>
      <p:sp>
        <p:nvSpPr>
          <p:cNvPr id="4" name="Text 0"/>
          <p:cNvSpPr>
            <a:spLocks noGrp="1"/>
          </p:cNvSpPr>
          <p:nvPr>
            <p:ph type="body" idx="101" hasCustomPrompt="1"/>
          </p:nvPr>
        </p:nvSpPr>
        <p:spPr>
          <a:xfrm>
            <a:off x="548640" y="3383280"/>
            <a:ext cx="4572000" cy="1188720"/>
          </a:xfrm>
          <a:prstGeom prst="rect">
            <a:avLst/>
          </a:prstGeom>
          <a:noFill/>
          <a:ln/>
        </p:spPr>
        <p:txBody>
          <a:bodyPr wrap="square" lIns="0" tIns="0" rIns="0" bIns="0" rtlCol="0" anchor="t"/>
          <a:lstStyle/>
          <a:p>
            <a:pPr marL="0" indent="0" algn="l">
              <a:buNone/>
            </a:pPr>
            <a:r>
              <a:rPr lang="en-US" sz="1600" b="1" dirty="0">
                <a:solidFill>
                  <a:schemeClr val="bg1"/>
                </a:solidFill>
              </a:rPr>
              <a:t>María Belén Satt Rivera</a:t>
            </a:r>
            <a:endParaRPr lang="en-US" sz="1400" dirty="0"/>
          </a:p>
          <a:p>
            <a:pPr marL="0" indent="0" algn="l">
              <a:buNone/>
            </a:pPr>
            <a:r>
              <a:rPr lang="en-US" sz="1400" dirty="0">
                <a:solidFill>
                  <a:schemeClr val="accent6"/>
                </a:solidFill>
              </a:rPr>
              <a:t>Docente: Ing. Edgar Jaldin Torrico</a:t>
            </a:r>
            <a:endParaRPr lang="en-US" sz="1400" dirty="0"/>
          </a:p>
          <a:p>
            <a:pPr marL="0" indent="0" algn="l">
              <a:buNone/>
            </a:pPr>
            <a:r>
              <a:rPr lang="en-US" sz="1400" dirty="0">
                <a:solidFill>
                  <a:schemeClr val="accent6"/>
                </a:solidFill>
              </a:rPr>
              <a:t>Ingeniería Mecatrónica · Universidad Católica Boliviana “San Pablo”</a:t>
            </a:r>
            <a:endParaRPr lang="en-US" sz="1400" dirty="0"/>
          </a:p>
        </p:txBody>
      </p:sp>
      <p:pic>
        <p:nvPicPr>
          <p:cNvPr id="5" name="Captura QC Vision" descr="Captura de la aplicación QC Vision clasificando una pieza"/>
          <p:cNvPicPr>
            <a:picLocks noChangeAspect="1"/>
          </p:cNvPicPr>
          <p:nvPr/>
        </p:nvPicPr>
        <p:blipFill>
          <a:blip r:embed="rId3"/>
          <a:stretch>
            <a:fillRect/>
          </a:stretch>
        </p:blipFill>
        <p:spPr>
          <a:xfrm>
            <a:off x="5440680" y="1325880"/>
            <a:ext cx="3291840" cy="21421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lIns="0" tIns="0" rIns="0" bIns="0" rtlCol="0" anchor="ctr"/>
          <a:lstStyle/>
          <a:p>
            <a:pPr marL="0" indent="0" algn="l">
              <a:buNone/>
            </a:pPr>
            <a:r>
              <a:rPr lang="en-US" sz="3600" b="1" dirty="0">
                <a:solidFill>
                  <a:schemeClr val="tx2"/>
                </a:solidFill>
              </a:rPr>
              <a:t>El problema</a:t>
            </a:r>
            <a:endParaRPr lang="en-US" sz="3600" dirty="0"/>
          </a:p>
        </p:txBody>
      </p:sp>
      <p:sp>
        <p:nvSpPr>
          <p:cNvPr id="3" name="Tarjeta problema 1"/>
          <p:cNvSpPr/>
          <p:nvPr/>
        </p:nvSpPr>
        <p:spPr>
          <a:xfrm>
            <a:off x="457200" y="1325880"/>
            <a:ext cx="5212080" cy="914400"/>
          </a:xfrm>
          <a:prstGeom prst="roundRect">
            <a:avLst>
              <a:gd name="adj" fmla="val 12000"/>
            </a:avLst>
          </a:prstGeom>
          <a:solidFill>
            <a:schemeClr val="bg2"/>
          </a:solidFill>
          <a:ln/>
        </p:spPr>
      </p:sp>
      <p:sp>
        <p:nvSpPr>
          <p:cNvPr id="4" name="Ícono Inspección visual manual (círculo)"/>
          <p:cNvSpPr/>
          <p:nvPr/>
        </p:nvSpPr>
        <p:spPr>
          <a:xfrm>
            <a:off x="640080" y="1508760"/>
            <a:ext cx="548640" cy="548640"/>
          </a:xfrm>
          <a:prstGeom prst="ellipse">
            <a:avLst/>
          </a:prstGeom>
          <a:solidFill>
            <a:schemeClr val="tx2"/>
          </a:solidFill>
          <a:ln/>
        </p:spPr>
      </p:sp>
      <p:pic>
        <p:nvPicPr>
          <p:cNvPr id="5" name="Ícono Inspección visual manual" descr="Ícono Inspección visual manual"/>
          <p:cNvPicPr>
            <a:picLocks noChangeAspect="1"/>
          </p:cNvPicPr>
          <p:nvPr/>
        </p:nvPicPr>
        <p:blipFill>
          <a:blip r:embed="rId3"/>
          <a:stretch>
            <a:fillRect/>
          </a:stretch>
        </p:blipFill>
        <p:spPr>
          <a:xfrm>
            <a:off x="782726" y="1651406"/>
            <a:ext cx="263347" cy="263347"/>
          </a:xfrm>
          <a:prstGeom prst="rect">
            <a:avLst/>
          </a:prstGeom>
        </p:spPr>
      </p:pic>
      <p:sp>
        <p:nvSpPr>
          <p:cNvPr id="6" name="Text 3"/>
          <p:cNvSpPr txBox="1"/>
          <p:nvPr/>
        </p:nvSpPr>
        <p:spPr>
          <a:xfrm>
            <a:off x="1417320" y="1435608"/>
            <a:ext cx="4114800" cy="274320"/>
          </a:xfrm>
          <a:prstGeom prst="rect">
            <a:avLst/>
          </a:prstGeom>
          <a:noFill/>
          <a:ln/>
        </p:spPr>
        <p:txBody>
          <a:bodyPr wrap="square" lIns="0" tIns="0" rIns="0" bIns="0" rtlCol="0" anchor="t"/>
          <a:lstStyle/>
          <a:p>
            <a:pPr marL="0" indent="0">
              <a:buNone/>
            </a:pPr>
            <a:r>
              <a:rPr lang="en-US" sz="1600" b="1" dirty="0">
                <a:solidFill>
                  <a:schemeClr val="tx2"/>
                </a:solidFill>
              </a:rPr>
              <a:t>Inspección visual manual</a:t>
            </a:r>
            <a:endParaRPr lang="en-US" sz="1600" dirty="0"/>
          </a:p>
        </p:txBody>
      </p:sp>
      <p:sp>
        <p:nvSpPr>
          <p:cNvPr id="7" name="Text 4"/>
          <p:cNvSpPr txBox="1"/>
          <p:nvPr/>
        </p:nvSpPr>
        <p:spPr>
          <a:xfrm>
            <a:off x="1417320" y="1728216"/>
            <a:ext cx="4114800" cy="457200"/>
          </a:xfrm>
          <a:prstGeom prst="rect">
            <a:avLst/>
          </a:prstGeom>
          <a:noFill/>
          <a:ln/>
        </p:spPr>
        <p:txBody>
          <a:bodyPr wrap="square" lIns="0" tIns="0" rIns="0" bIns="0" rtlCol="0" anchor="t"/>
          <a:lstStyle/>
          <a:p>
            <a:pPr marL="0" indent="0">
              <a:buNone/>
            </a:pPr>
            <a:r>
              <a:rPr lang="en-US" sz="1400" dirty="0">
                <a:solidFill>
                  <a:schemeClr val="tx1"/>
                </a:solidFill>
              </a:rPr>
              <a:t>Depende de la experiencia del operador y de las condiciones en que se evalúa.</a:t>
            </a:r>
            <a:endParaRPr lang="en-US" sz="1400" dirty="0"/>
          </a:p>
        </p:txBody>
      </p:sp>
      <p:sp>
        <p:nvSpPr>
          <p:cNvPr id="8" name="Tarjeta problema 2"/>
          <p:cNvSpPr/>
          <p:nvPr/>
        </p:nvSpPr>
        <p:spPr>
          <a:xfrm>
            <a:off x="457200" y="2377440"/>
            <a:ext cx="5212080" cy="914400"/>
          </a:xfrm>
          <a:prstGeom prst="roundRect">
            <a:avLst>
              <a:gd name="adj" fmla="val 12000"/>
            </a:avLst>
          </a:prstGeom>
          <a:solidFill>
            <a:schemeClr val="bg2"/>
          </a:solidFill>
          <a:ln/>
        </p:spPr>
      </p:sp>
      <p:sp>
        <p:nvSpPr>
          <p:cNvPr id="9" name="Ícono Defectos superficiales (círculo)"/>
          <p:cNvSpPr/>
          <p:nvPr/>
        </p:nvSpPr>
        <p:spPr>
          <a:xfrm>
            <a:off x="640080" y="2560320"/>
            <a:ext cx="548640" cy="548640"/>
          </a:xfrm>
          <a:prstGeom prst="ellipse">
            <a:avLst/>
          </a:prstGeom>
          <a:solidFill>
            <a:schemeClr val="tx2"/>
          </a:solidFill>
          <a:ln/>
        </p:spPr>
      </p:sp>
      <p:pic>
        <p:nvPicPr>
          <p:cNvPr id="10" name="Ícono Defectos superficiales" descr="Ícono Defectos superficiales"/>
          <p:cNvPicPr>
            <a:picLocks noChangeAspect="1"/>
          </p:cNvPicPr>
          <p:nvPr/>
        </p:nvPicPr>
        <p:blipFill>
          <a:blip r:embed="rId4"/>
          <a:stretch>
            <a:fillRect/>
          </a:stretch>
        </p:blipFill>
        <p:spPr>
          <a:xfrm>
            <a:off x="782726" y="2702966"/>
            <a:ext cx="263347" cy="263347"/>
          </a:xfrm>
          <a:prstGeom prst="rect">
            <a:avLst/>
          </a:prstGeom>
        </p:spPr>
      </p:pic>
      <p:sp>
        <p:nvSpPr>
          <p:cNvPr id="11" name="Text 7"/>
          <p:cNvSpPr txBox="1"/>
          <p:nvPr/>
        </p:nvSpPr>
        <p:spPr>
          <a:xfrm>
            <a:off x="1417320" y="2487168"/>
            <a:ext cx="4114800" cy="274320"/>
          </a:xfrm>
          <a:prstGeom prst="rect">
            <a:avLst/>
          </a:prstGeom>
          <a:noFill/>
          <a:ln/>
        </p:spPr>
        <p:txBody>
          <a:bodyPr wrap="square" lIns="0" tIns="0" rIns="0" bIns="0" rtlCol="0" anchor="t"/>
          <a:lstStyle/>
          <a:p>
            <a:pPr marL="0" indent="0">
              <a:buNone/>
            </a:pPr>
            <a:r>
              <a:rPr lang="en-US" sz="1600" b="1" dirty="0">
                <a:solidFill>
                  <a:schemeClr val="tx2"/>
                </a:solidFill>
              </a:rPr>
              <a:t>Defectos superficiales</a:t>
            </a:r>
            <a:endParaRPr lang="en-US" sz="1600" dirty="0"/>
          </a:p>
        </p:txBody>
      </p:sp>
      <p:sp>
        <p:nvSpPr>
          <p:cNvPr id="12" name="Text 8"/>
          <p:cNvSpPr txBox="1"/>
          <p:nvPr/>
        </p:nvSpPr>
        <p:spPr>
          <a:xfrm>
            <a:off x="1417320" y="2779776"/>
            <a:ext cx="4114800" cy="457200"/>
          </a:xfrm>
          <a:prstGeom prst="rect">
            <a:avLst/>
          </a:prstGeom>
          <a:noFill/>
          <a:ln/>
        </p:spPr>
        <p:txBody>
          <a:bodyPr wrap="square" lIns="0" tIns="0" rIns="0" bIns="0" rtlCol="0" anchor="t"/>
          <a:lstStyle/>
          <a:p>
            <a:pPr marL="0" indent="0">
              <a:buNone/>
            </a:pPr>
            <a:r>
              <a:rPr lang="en-US" sz="1400" dirty="0">
                <a:solidFill>
                  <a:schemeClr val="tx1"/>
                </a:solidFill>
              </a:rPr>
              <a:t>Rayaduras, rebabas y chatter afectan la calidad y el cumplimiento de requisitos.</a:t>
            </a:r>
            <a:endParaRPr lang="en-US" sz="1400" dirty="0"/>
          </a:p>
        </p:txBody>
      </p:sp>
      <p:sp>
        <p:nvSpPr>
          <p:cNvPr id="13" name="Tarjeta problema 3"/>
          <p:cNvSpPr/>
          <p:nvPr/>
        </p:nvSpPr>
        <p:spPr>
          <a:xfrm>
            <a:off x="457200" y="3429000"/>
            <a:ext cx="5212080" cy="914400"/>
          </a:xfrm>
          <a:prstGeom prst="roundRect">
            <a:avLst>
              <a:gd name="adj" fmla="val 12000"/>
            </a:avLst>
          </a:prstGeom>
          <a:solidFill>
            <a:schemeClr val="bg2"/>
          </a:solidFill>
          <a:ln/>
        </p:spPr>
      </p:sp>
      <p:sp>
        <p:nvSpPr>
          <p:cNvPr id="14" name="Ícono Visión artificial + IA (círculo)"/>
          <p:cNvSpPr/>
          <p:nvPr/>
        </p:nvSpPr>
        <p:spPr>
          <a:xfrm>
            <a:off x="640080" y="3611880"/>
            <a:ext cx="548640" cy="548640"/>
          </a:xfrm>
          <a:prstGeom prst="ellipse">
            <a:avLst/>
          </a:prstGeom>
          <a:solidFill>
            <a:schemeClr val="tx2"/>
          </a:solidFill>
          <a:ln/>
        </p:spPr>
      </p:sp>
      <p:pic>
        <p:nvPicPr>
          <p:cNvPr id="15" name="Ícono Visión artificial + IA" descr="Ícono Visión artificial + IA"/>
          <p:cNvPicPr>
            <a:picLocks noChangeAspect="1"/>
          </p:cNvPicPr>
          <p:nvPr/>
        </p:nvPicPr>
        <p:blipFill>
          <a:blip r:embed="rId5"/>
          <a:stretch>
            <a:fillRect/>
          </a:stretch>
        </p:blipFill>
        <p:spPr>
          <a:xfrm>
            <a:off x="782726" y="3754526"/>
            <a:ext cx="263347" cy="263347"/>
          </a:xfrm>
          <a:prstGeom prst="rect">
            <a:avLst/>
          </a:prstGeom>
        </p:spPr>
      </p:pic>
      <p:sp>
        <p:nvSpPr>
          <p:cNvPr id="16" name="Text 11"/>
          <p:cNvSpPr txBox="1"/>
          <p:nvPr/>
        </p:nvSpPr>
        <p:spPr>
          <a:xfrm>
            <a:off x="1417320" y="3538728"/>
            <a:ext cx="4114800" cy="274320"/>
          </a:xfrm>
          <a:prstGeom prst="rect">
            <a:avLst/>
          </a:prstGeom>
          <a:noFill/>
          <a:ln/>
        </p:spPr>
        <p:txBody>
          <a:bodyPr wrap="square" lIns="0" tIns="0" rIns="0" bIns="0" rtlCol="0" anchor="t"/>
          <a:lstStyle/>
          <a:p>
            <a:pPr marL="0" indent="0">
              <a:buNone/>
            </a:pPr>
            <a:r>
              <a:rPr lang="en-US" sz="1600" b="1" dirty="0">
                <a:solidFill>
                  <a:schemeClr val="tx2"/>
                </a:solidFill>
              </a:rPr>
              <a:t>Visión artificial + IA</a:t>
            </a:r>
            <a:endParaRPr lang="en-US" sz="1600" dirty="0"/>
          </a:p>
        </p:txBody>
      </p:sp>
      <p:sp>
        <p:nvSpPr>
          <p:cNvPr id="17" name="Text 12"/>
          <p:cNvSpPr txBox="1"/>
          <p:nvPr/>
        </p:nvSpPr>
        <p:spPr>
          <a:xfrm>
            <a:off x="1417320" y="3831336"/>
            <a:ext cx="4114800" cy="457200"/>
          </a:xfrm>
          <a:prstGeom prst="rect">
            <a:avLst/>
          </a:prstGeom>
          <a:noFill/>
          <a:ln/>
        </p:spPr>
        <p:txBody>
          <a:bodyPr wrap="square" lIns="0" tIns="0" rIns="0" bIns="0" rtlCol="0" anchor="t"/>
          <a:lstStyle/>
          <a:p>
            <a:pPr marL="0" indent="0">
              <a:buNone/>
            </a:pPr>
            <a:r>
              <a:rPr lang="en-US" sz="1400" dirty="0">
                <a:solidFill>
                  <a:schemeClr val="tx1"/>
                </a:solidFill>
              </a:rPr>
              <a:t>Permiten inspeccionar de forma rápida, flexible y más sistemática.</a:t>
            </a:r>
            <a:endParaRPr lang="en-US" sz="1400" dirty="0"/>
          </a:p>
        </p:txBody>
      </p:sp>
      <p:sp>
        <p:nvSpPr>
          <p:cNvPr id="18" name="Panel propósito"/>
          <p:cNvSpPr/>
          <p:nvPr/>
        </p:nvSpPr>
        <p:spPr>
          <a:xfrm>
            <a:off x="5943600" y="1325880"/>
            <a:ext cx="2743200" cy="3017520"/>
          </a:xfrm>
          <a:prstGeom prst="roundRect">
            <a:avLst>
              <a:gd name="adj" fmla="val 4000"/>
            </a:avLst>
          </a:prstGeom>
          <a:solidFill>
            <a:schemeClr val="tx2"/>
          </a:solidFill>
          <a:ln/>
        </p:spPr>
      </p:sp>
      <p:sp>
        <p:nvSpPr>
          <p:cNvPr id="19" name="Text 14"/>
          <p:cNvSpPr txBox="1"/>
          <p:nvPr/>
        </p:nvSpPr>
        <p:spPr>
          <a:xfrm>
            <a:off x="6172200" y="1554480"/>
            <a:ext cx="2286000" cy="274320"/>
          </a:xfrm>
          <a:prstGeom prst="rect">
            <a:avLst/>
          </a:prstGeom>
          <a:noFill/>
          <a:ln/>
        </p:spPr>
        <p:txBody>
          <a:bodyPr wrap="square" lIns="0" tIns="0" rIns="0" bIns="0" rtlCol="0" anchor="t"/>
          <a:lstStyle/>
          <a:p>
            <a:pPr marL="0" indent="0">
              <a:buNone/>
            </a:pPr>
            <a:r>
              <a:rPr lang="en-US" sz="1200" b="1" kern="0" spc="200" dirty="0">
                <a:solidFill>
                  <a:schemeClr val="accent6"/>
                </a:solidFill>
              </a:rPr>
              <a:t>PROPÓSITO</a:t>
            </a:r>
            <a:endParaRPr lang="en-US" sz="1200" dirty="0"/>
          </a:p>
        </p:txBody>
      </p:sp>
      <p:sp>
        <p:nvSpPr>
          <p:cNvPr id="20" name="Text 15"/>
          <p:cNvSpPr txBox="1"/>
          <p:nvPr/>
        </p:nvSpPr>
        <p:spPr>
          <a:xfrm>
            <a:off x="6172200" y="1965960"/>
            <a:ext cx="2286000" cy="2103120"/>
          </a:xfrm>
          <a:prstGeom prst="rect">
            <a:avLst/>
          </a:prstGeom>
          <a:noFill/>
          <a:ln/>
        </p:spPr>
        <p:txBody>
          <a:bodyPr wrap="square" lIns="0" tIns="0" rIns="0" bIns="0" rtlCol="0" anchor="t"/>
          <a:lstStyle/>
          <a:p>
            <a:pPr marL="0" indent="0">
              <a:buNone/>
            </a:pPr>
            <a:r>
              <a:rPr lang="en-US" sz="2400" dirty="0">
                <a:solidFill>
                  <a:schemeClr val="bg1"/>
                </a:solidFill>
              </a:rPr>
              <a:t>Reducir la dependencia exclusiva de la </a:t>
            </a:r>
            <a:r>
              <a:rPr lang="en-US" sz="2400" b="1" dirty="0">
                <a:solidFill>
                  <a:schemeClr val="accent6"/>
                </a:solidFill>
              </a:rPr>
              <a:t>observación manual</a:t>
            </a:r>
            <a:endParaRPr lang="en-US" sz="2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lIns="0" tIns="0" rIns="0" bIns="0" rtlCol="0" anchor="ctr"/>
          <a:lstStyle/>
          <a:p>
            <a:pPr marL="0" indent="0" algn="l">
              <a:buNone/>
            </a:pPr>
            <a:r>
              <a:rPr lang="en-US" sz="3600" b="1" dirty="0">
                <a:solidFill>
                  <a:schemeClr val="tx2"/>
                </a:solidFill>
              </a:rPr>
              <a:t>Objetivo del proyecto</a:t>
            </a:r>
            <a:endParaRPr lang="en-US" sz="3600" dirty="0"/>
          </a:p>
        </p:txBody>
      </p:sp>
      <p:sp>
        <p:nvSpPr>
          <p:cNvPr id="3" name="Text 1"/>
          <p:cNvSpPr txBox="1"/>
          <p:nvPr/>
        </p:nvSpPr>
        <p:spPr>
          <a:xfrm>
            <a:off x="457200" y="1325880"/>
            <a:ext cx="4297680" cy="1188720"/>
          </a:xfrm>
          <a:prstGeom prst="rect">
            <a:avLst/>
          </a:prstGeom>
          <a:noFill/>
          <a:ln/>
        </p:spPr>
        <p:txBody>
          <a:bodyPr wrap="square" lIns="0" tIns="0" rIns="0" bIns="0" rtlCol="0" anchor="t"/>
          <a:lstStyle/>
          <a:p>
            <a:pPr marL="0" indent="0">
              <a:buNone/>
            </a:pPr>
            <a:r>
              <a:rPr lang="en-US" sz="1800" dirty="0">
                <a:solidFill>
                  <a:schemeClr val="tx1"/>
                </a:solidFill>
              </a:rPr>
              <a:t>Desarrollar un sistema que apoye la inspección visual de piezas mecanizadas e identifique defectos superficiales.</a:t>
            </a:r>
            <a:endParaRPr lang="en-US" sz="1800" dirty="0"/>
          </a:p>
        </p:txBody>
      </p:sp>
      <p:sp>
        <p:nvSpPr>
          <p:cNvPr id="4" name="Ícono Adquiere imágenes con una cámara (círculo)"/>
          <p:cNvSpPr/>
          <p:nvPr/>
        </p:nvSpPr>
        <p:spPr>
          <a:xfrm>
            <a:off x="457200" y="2743200"/>
            <a:ext cx="411480" cy="411480"/>
          </a:xfrm>
          <a:prstGeom prst="ellipse">
            <a:avLst/>
          </a:prstGeom>
          <a:solidFill>
            <a:schemeClr val="tx2"/>
          </a:solidFill>
          <a:ln/>
        </p:spPr>
      </p:sp>
      <p:pic>
        <p:nvPicPr>
          <p:cNvPr id="5" name="Ícono Adquiere imágenes con una cámara" descr="Ícono Adquiere imágenes con una cámara"/>
          <p:cNvPicPr>
            <a:picLocks noChangeAspect="1"/>
          </p:cNvPicPr>
          <p:nvPr/>
        </p:nvPicPr>
        <p:blipFill>
          <a:blip r:embed="rId3"/>
          <a:stretch>
            <a:fillRect/>
          </a:stretch>
        </p:blipFill>
        <p:spPr>
          <a:xfrm>
            <a:off x="564185" y="2850185"/>
            <a:ext cx="197510" cy="197510"/>
          </a:xfrm>
          <a:prstGeom prst="rect">
            <a:avLst/>
          </a:prstGeom>
        </p:spPr>
      </p:pic>
      <p:sp>
        <p:nvSpPr>
          <p:cNvPr id="6" name="Text 3"/>
          <p:cNvSpPr txBox="1"/>
          <p:nvPr/>
        </p:nvSpPr>
        <p:spPr>
          <a:xfrm>
            <a:off x="1051560" y="2816352"/>
            <a:ext cx="3657600" cy="274320"/>
          </a:xfrm>
          <a:prstGeom prst="rect">
            <a:avLst/>
          </a:prstGeom>
          <a:noFill/>
          <a:ln/>
        </p:spPr>
        <p:txBody>
          <a:bodyPr wrap="square" lIns="0" tIns="0" rIns="0" bIns="0" rtlCol="0" anchor="t"/>
          <a:lstStyle/>
          <a:p>
            <a:pPr marL="0" indent="0">
              <a:buNone/>
            </a:pPr>
            <a:r>
              <a:rPr lang="en-US" sz="1400" dirty="0">
                <a:solidFill>
                  <a:schemeClr val="tx1"/>
                </a:solidFill>
              </a:rPr>
              <a:t>Adquiere imágenes con una cámara</a:t>
            </a:r>
            <a:endParaRPr lang="en-US" sz="1400" dirty="0"/>
          </a:p>
        </p:txBody>
      </p:sp>
      <p:sp>
        <p:nvSpPr>
          <p:cNvPr id="7" name="Ícono Clasifica con un modelo entrenado (círculo)"/>
          <p:cNvSpPr/>
          <p:nvPr/>
        </p:nvSpPr>
        <p:spPr>
          <a:xfrm>
            <a:off x="457200" y="3310128"/>
            <a:ext cx="411480" cy="411480"/>
          </a:xfrm>
          <a:prstGeom prst="ellipse">
            <a:avLst/>
          </a:prstGeom>
          <a:solidFill>
            <a:schemeClr val="tx2"/>
          </a:solidFill>
          <a:ln/>
        </p:spPr>
      </p:sp>
      <p:pic>
        <p:nvPicPr>
          <p:cNvPr id="8" name="Ícono Clasifica con un modelo entrenado" descr="Ícono Clasifica con un modelo entrenado"/>
          <p:cNvPicPr>
            <a:picLocks noChangeAspect="1"/>
          </p:cNvPicPr>
          <p:nvPr/>
        </p:nvPicPr>
        <p:blipFill>
          <a:blip r:embed="rId4"/>
          <a:stretch>
            <a:fillRect/>
          </a:stretch>
        </p:blipFill>
        <p:spPr>
          <a:xfrm>
            <a:off x="564185" y="3417113"/>
            <a:ext cx="197510" cy="197510"/>
          </a:xfrm>
          <a:prstGeom prst="rect">
            <a:avLst/>
          </a:prstGeom>
        </p:spPr>
      </p:pic>
      <p:sp>
        <p:nvSpPr>
          <p:cNvPr id="9" name="Text 5"/>
          <p:cNvSpPr txBox="1"/>
          <p:nvPr/>
        </p:nvSpPr>
        <p:spPr>
          <a:xfrm>
            <a:off x="1051560" y="3383280"/>
            <a:ext cx="3657600" cy="274320"/>
          </a:xfrm>
          <a:prstGeom prst="rect">
            <a:avLst/>
          </a:prstGeom>
          <a:noFill/>
          <a:ln/>
        </p:spPr>
        <p:txBody>
          <a:bodyPr wrap="square" lIns="0" tIns="0" rIns="0" bIns="0" rtlCol="0" anchor="t"/>
          <a:lstStyle/>
          <a:p>
            <a:pPr marL="0" indent="0">
              <a:buNone/>
            </a:pPr>
            <a:r>
              <a:rPr lang="en-US" sz="1400" dirty="0">
                <a:solidFill>
                  <a:schemeClr val="tx1"/>
                </a:solidFill>
              </a:rPr>
              <a:t>Clasifica con un modelo entrenado</a:t>
            </a:r>
            <a:endParaRPr lang="en-US" sz="1400" dirty="0"/>
          </a:p>
        </p:txBody>
      </p:sp>
      <p:sp>
        <p:nvSpPr>
          <p:cNvPr id="10" name="Ícono Muestra resultado y nivel de confianza (círculo)"/>
          <p:cNvSpPr/>
          <p:nvPr/>
        </p:nvSpPr>
        <p:spPr>
          <a:xfrm>
            <a:off x="457200" y="3877056"/>
            <a:ext cx="411480" cy="411480"/>
          </a:xfrm>
          <a:prstGeom prst="ellipse">
            <a:avLst/>
          </a:prstGeom>
          <a:solidFill>
            <a:schemeClr val="tx2"/>
          </a:solidFill>
          <a:ln/>
        </p:spPr>
      </p:sp>
      <p:pic>
        <p:nvPicPr>
          <p:cNvPr id="11" name="Ícono Muestra resultado y nivel de confianza" descr="Ícono Muestra resultado y nivel de confianza"/>
          <p:cNvPicPr>
            <a:picLocks noChangeAspect="1"/>
          </p:cNvPicPr>
          <p:nvPr/>
        </p:nvPicPr>
        <p:blipFill>
          <a:blip r:embed="rId5"/>
          <a:stretch>
            <a:fillRect/>
          </a:stretch>
        </p:blipFill>
        <p:spPr>
          <a:xfrm>
            <a:off x="564185" y="3984041"/>
            <a:ext cx="197510" cy="197510"/>
          </a:xfrm>
          <a:prstGeom prst="rect">
            <a:avLst/>
          </a:prstGeom>
        </p:spPr>
      </p:pic>
      <p:sp>
        <p:nvSpPr>
          <p:cNvPr id="12" name="Text 7"/>
          <p:cNvSpPr txBox="1"/>
          <p:nvPr/>
        </p:nvSpPr>
        <p:spPr>
          <a:xfrm>
            <a:off x="1051560" y="3950208"/>
            <a:ext cx="3657600" cy="274320"/>
          </a:xfrm>
          <a:prstGeom prst="rect">
            <a:avLst/>
          </a:prstGeom>
          <a:noFill/>
          <a:ln/>
        </p:spPr>
        <p:txBody>
          <a:bodyPr wrap="square" lIns="0" tIns="0" rIns="0" bIns="0" rtlCol="0" anchor="t"/>
          <a:lstStyle/>
          <a:p>
            <a:pPr marL="0" indent="0">
              <a:buNone/>
            </a:pPr>
            <a:r>
              <a:rPr lang="en-US" sz="1400" dirty="0">
                <a:solidFill>
                  <a:schemeClr val="tx1"/>
                </a:solidFill>
              </a:rPr>
              <a:t>Muestra resultado y nivel de confianza</a:t>
            </a:r>
            <a:endParaRPr lang="en-US" sz="1400" dirty="0"/>
          </a:p>
        </p:txBody>
      </p:sp>
      <p:sp>
        <p:nvSpPr>
          <p:cNvPr id="13" name="Clase Pieza_OK"/>
          <p:cNvSpPr/>
          <p:nvPr/>
        </p:nvSpPr>
        <p:spPr>
          <a:xfrm>
            <a:off x="5120640" y="1325880"/>
            <a:ext cx="1691640" cy="1417320"/>
          </a:xfrm>
          <a:prstGeom prst="roundRect">
            <a:avLst>
              <a:gd name="adj" fmla="val 7742"/>
            </a:avLst>
          </a:prstGeom>
          <a:solidFill>
            <a:schemeClr val="accent1"/>
          </a:solidFill>
          <a:ln/>
        </p:spPr>
      </p:sp>
      <p:sp>
        <p:nvSpPr>
          <p:cNvPr id="14" name="Text 9"/>
          <p:cNvSpPr txBox="1"/>
          <p:nvPr/>
        </p:nvSpPr>
        <p:spPr>
          <a:xfrm>
            <a:off x="5257800" y="1508760"/>
            <a:ext cx="1417320" cy="320040"/>
          </a:xfrm>
          <a:prstGeom prst="rect">
            <a:avLst/>
          </a:prstGeom>
          <a:noFill/>
          <a:ln/>
        </p:spPr>
        <p:txBody>
          <a:bodyPr wrap="square" lIns="0" tIns="0" rIns="0" bIns="0" rtlCol="0" anchor="t"/>
          <a:lstStyle/>
          <a:p>
            <a:pPr marL="0" indent="0">
              <a:buNone/>
            </a:pPr>
            <a:r>
              <a:rPr lang="en-US" sz="1800" b="1" dirty="0">
                <a:solidFill>
                  <a:schemeClr val="bg1"/>
                </a:solidFill>
              </a:rPr>
              <a:t>Pieza_OK</a:t>
            </a:r>
            <a:endParaRPr lang="en-US" sz="1800" dirty="0"/>
          </a:p>
        </p:txBody>
      </p:sp>
      <p:sp>
        <p:nvSpPr>
          <p:cNvPr id="15" name="Text 10"/>
          <p:cNvSpPr txBox="1"/>
          <p:nvPr/>
        </p:nvSpPr>
        <p:spPr>
          <a:xfrm>
            <a:off x="5257800" y="1920240"/>
            <a:ext cx="1417320" cy="640080"/>
          </a:xfrm>
          <a:prstGeom prst="rect">
            <a:avLst/>
          </a:prstGeom>
          <a:noFill/>
          <a:ln/>
        </p:spPr>
        <p:txBody>
          <a:bodyPr wrap="square" lIns="0" tIns="0" rIns="0" bIns="0" rtlCol="0" anchor="t"/>
          <a:lstStyle/>
          <a:p>
            <a:pPr marL="0" indent="0">
              <a:buNone/>
            </a:pPr>
            <a:r>
              <a:rPr lang="en-US" sz="1400" dirty="0">
                <a:solidFill>
                  <a:schemeClr val="bg1"/>
                </a:solidFill>
              </a:rPr>
              <a:t>Sin defectos detectables</a:t>
            </a:r>
            <a:endParaRPr lang="en-US" sz="1400" dirty="0"/>
          </a:p>
        </p:txBody>
      </p:sp>
      <p:sp>
        <p:nvSpPr>
          <p:cNvPr id="16" name="Clase Chatter"/>
          <p:cNvSpPr/>
          <p:nvPr/>
        </p:nvSpPr>
        <p:spPr>
          <a:xfrm>
            <a:off x="6995160" y="1325880"/>
            <a:ext cx="1691640" cy="1417320"/>
          </a:xfrm>
          <a:prstGeom prst="roundRect">
            <a:avLst>
              <a:gd name="adj" fmla="val 7742"/>
            </a:avLst>
          </a:prstGeom>
          <a:solidFill>
            <a:schemeClr val="bg2"/>
          </a:solidFill>
          <a:ln/>
        </p:spPr>
      </p:sp>
      <p:sp>
        <p:nvSpPr>
          <p:cNvPr id="17" name="Text 12"/>
          <p:cNvSpPr txBox="1"/>
          <p:nvPr/>
        </p:nvSpPr>
        <p:spPr>
          <a:xfrm>
            <a:off x="7132320" y="1508760"/>
            <a:ext cx="1417320" cy="320040"/>
          </a:xfrm>
          <a:prstGeom prst="rect">
            <a:avLst/>
          </a:prstGeom>
          <a:noFill/>
          <a:ln/>
        </p:spPr>
        <p:txBody>
          <a:bodyPr wrap="square" lIns="0" tIns="0" rIns="0" bIns="0" rtlCol="0" anchor="t"/>
          <a:lstStyle/>
          <a:p>
            <a:pPr marL="0" indent="0">
              <a:buNone/>
            </a:pPr>
            <a:r>
              <a:rPr lang="en-US" sz="1800" b="1" dirty="0">
                <a:solidFill>
                  <a:schemeClr val="tx2"/>
                </a:solidFill>
              </a:rPr>
              <a:t>Chatter</a:t>
            </a:r>
            <a:endParaRPr lang="en-US" sz="1800" dirty="0"/>
          </a:p>
        </p:txBody>
      </p:sp>
      <p:sp>
        <p:nvSpPr>
          <p:cNvPr id="18" name="Text 13"/>
          <p:cNvSpPr txBox="1"/>
          <p:nvPr/>
        </p:nvSpPr>
        <p:spPr>
          <a:xfrm>
            <a:off x="7132320" y="1920240"/>
            <a:ext cx="1417320" cy="640080"/>
          </a:xfrm>
          <a:prstGeom prst="rect">
            <a:avLst/>
          </a:prstGeom>
          <a:noFill/>
          <a:ln/>
        </p:spPr>
        <p:txBody>
          <a:bodyPr wrap="square" lIns="0" tIns="0" rIns="0" bIns="0" rtlCol="0" anchor="t"/>
          <a:lstStyle/>
          <a:p>
            <a:pPr marL="0" indent="0">
              <a:buNone/>
            </a:pPr>
            <a:r>
              <a:rPr lang="en-US" sz="1400" dirty="0">
                <a:solidFill>
                  <a:schemeClr val="tx1"/>
                </a:solidFill>
              </a:rPr>
              <a:t>Marcas por vibración</a:t>
            </a:r>
            <a:endParaRPr lang="en-US" sz="1400" dirty="0"/>
          </a:p>
        </p:txBody>
      </p:sp>
      <p:sp>
        <p:nvSpPr>
          <p:cNvPr id="19" name="Clase Rayadura"/>
          <p:cNvSpPr/>
          <p:nvPr/>
        </p:nvSpPr>
        <p:spPr>
          <a:xfrm>
            <a:off x="5120640" y="2926080"/>
            <a:ext cx="1691640" cy="1417320"/>
          </a:xfrm>
          <a:prstGeom prst="roundRect">
            <a:avLst>
              <a:gd name="adj" fmla="val 7742"/>
            </a:avLst>
          </a:prstGeom>
          <a:solidFill>
            <a:schemeClr val="bg2"/>
          </a:solidFill>
          <a:ln/>
        </p:spPr>
      </p:sp>
      <p:sp>
        <p:nvSpPr>
          <p:cNvPr id="20" name="Text 15"/>
          <p:cNvSpPr txBox="1"/>
          <p:nvPr/>
        </p:nvSpPr>
        <p:spPr>
          <a:xfrm>
            <a:off x="5257800" y="3108960"/>
            <a:ext cx="1417320" cy="320040"/>
          </a:xfrm>
          <a:prstGeom prst="rect">
            <a:avLst/>
          </a:prstGeom>
          <a:noFill/>
          <a:ln/>
        </p:spPr>
        <p:txBody>
          <a:bodyPr wrap="square" lIns="0" tIns="0" rIns="0" bIns="0" rtlCol="0" anchor="t"/>
          <a:lstStyle/>
          <a:p>
            <a:pPr marL="0" indent="0">
              <a:buNone/>
            </a:pPr>
            <a:r>
              <a:rPr lang="en-US" sz="1800" b="1" dirty="0">
                <a:solidFill>
                  <a:schemeClr val="tx2"/>
                </a:solidFill>
              </a:rPr>
              <a:t>Rayadura</a:t>
            </a:r>
            <a:endParaRPr lang="en-US" sz="1800" dirty="0"/>
          </a:p>
        </p:txBody>
      </p:sp>
      <p:sp>
        <p:nvSpPr>
          <p:cNvPr id="21" name="Text 16"/>
          <p:cNvSpPr txBox="1"/>
          <p:nvPr/>
        </p:nvSpPr>
        <p:spPr>
          <a:xfrm>
            <a:off x="5257800" y="3520440"/>
            <a:ext cx="1417320" cy="640080"/>
          </a:xfrm>
          <a:prstGeom prst="rect">
            <a:avLst/>
          </a:prstGeom>
          <a:noFill/>
          <a:ln/>
        </p:spPr>
        <p:txBody>
          <a:bodyPr wrap="square" lIns="0" tIns="0" rIns="0" bIns="0" rtlCol="0" anchor="t"/>
          <a:lstStyle/>
          <a:p>
            <a:pPr marL="0" indent="0">
              <a:buNone/>
            </a:pPr>
            <a:r>
              <a:rPr lang="en-US" sz="1400" dirty="0">
                <a:solidFill>
                  <a:schemeClr val="tx1"/>
                </a:solidFill>
              </a:rPr>
              <a:t>Marcas o rayas visibles</a:t>
            </a:r>
            <a:endParaRPr lang="en-US" sz="1400" dirty="0"/>
          </a:p>
        </p:txBody>
      </p:sp>
      <p:sp>
        <p:nvSpPr>
          <p:cNvPr id="22" name="Clase Rebaba"/>
          <p:cNvSpPr/>
          <p:nvPr/>
        </p:nvSpPr>
        <p:spPr>
          <a:xfrm>
            <a:off x="6995160" y="2926080"/>
            <a:ext cx="1691640" cy="1417320"/>
          </a:xfrm>
          <a:prstGeom prst="roundRect">
            <a:avLst>
              <a:gd name="adj" fmla="val 7742"/>
            </a:avLst>
          </a:prstGeom>
          <a:solidFill>
            <a:schemeClr val="bg2"/>
          </a:solidFill>
          <a:ln/>
        </p:spPr>
      </p:sp>
      <p:sp>
        <p:nvSpPr>
          <p:cNvPr id="23" name="Text 18"/>
          <p:cNvSpPr txBox="1"/>
          <p:nvPr/>
        </p:nvSpPr>
        <p:spPr>
          <a:xfrm>
            <a:off x="7132320" y="3108960"/>
            <a:ext cx="1417320" cy="320040"/>
          </a:xfrm>
          <a:prstGeom prst="rect">
            <a:avLst/>
          </a:prstGeom>
          <a:noFill/>
          <a:ln/>
        </p:spPr>
        <p:txBody>
          <a:bodyPr wrap="square" lIns="0" tIns="0" rIns="0" bIns="0" rtlCol="0" anchor="t"/>
          <a:lstStyle/>
          <a:p>
            <a:pPr marL="0" indent="0">
              <a:buNone/>
            </a:pPr>
            <a:r>
              <a:rPr lang="en-US" sz="1800" b="1" dirty="0">
                <a:solidFill>
                  <a:schemeClr val="tx2"/>
                </a:solidFill>
              </a:rPr>
              <a:t>Rebaba</a:t>
            </a:r>
            <a:endParaRPr lang="en-US" sz="1800" dirty="0"/>
          </a:p>
        </p:txBody>
      </p:sp>
      <p:sp>
        <p:nvSpPr>
          <p:cNvPr id="24" name="Text 19"/>
          <p:cNvSpPr txBox="1"/>
          <p:nvPr/>
        </p:nvSpPr>
        <p:spPr>
          <a:xfrm>
            <a:off x="7132320" y="3520440"/>
            <a:ext cx="1417320" cy="640080"/>
          </a:xfrm>
          <a:prstGeom prst="rect">
            <a:avLst/>
          </a:prstGeom>
          <a:noFill/>
          <a:ln/>
        </p:spPr>
        <p:txBody>
          <a:bodyPr wrap="square" lIns="0" tIns="0" rIns="0" bIns="0" rtlCol="0" anchor="t"/>
          <a:lstStyle/>
          <a:p>
            <a:pPr marL="0" indent="0">
              <a:buNone/>
            </a:pPr>
            <a:r>
              <a:rPr lang="en-US" sz="1400" dirty="0">
                <a:solidFill>
                  <a:schemeClr val="tx1"/>
                </a:solidFill>
              </a:rPr>
              <a:t>Material sobrante en bordes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lIns="0" tIns="0" rIns="0" bIns="0" rtlCol="0" anchor="ctr"/>
          <a:lstStyle/>
          <a:p>
            <a:pPr marL="0" indent="0" algn="l">
              <a:buNone/>
            </a:pPr>
            <a:r>
              <a:rPr lang="en-US" sz="3600" b="1" dirty="0">
                <a:solidFill>
                  <a:schemeClr val="tx2"/>
                </a:solidFill>
              </a:rPr>
              <a:t>Los tres defectos a detectar</a:t>
            </a:r>
            <a:endParaRPr lang="en-US" sz="3600" dirty="0"/>
          </a:p>
        </p:txBody>
      </p:sp>
      <p:sp>
        <p:nvSpPr>
          <p:cNvPr id="3" name="Tarjeta Chatter"/>
          <p:cNvSpPr/>
          <p:nvPr/>
        </p:nvSpPr>
        <p:spPr>
          <a:xfrm>
            <a:off x="457200" y="1325880"/>
            <a:ext cx="2560320" cy="2880360"/>
          </a:xfrm>
          <a:prstGeom prst="roundRect">
            <a:avLst>
              <a:gd name="adj" fmla="val 4286"/>
            </a:avLst>
          </a:prstGeom>
          <a:solidFill>
            <a:schemeClr val="bg2"/>
          </a:solidFill>
          <a:ln/>
          <a:effectLst>
            <a:outerShdw blurRad="76200" dist="25400" dir="5400000" algn="bl" rotWithShape="0">
              <a:srgbClr val="000000">
                <a:alpha val="12000"/>
              </a:srgbClr>
            </a:outerShdw>
          </a:effectLst>
        </p:spPr>
      </p:sp>
      <p:sp>
        <p:nvSpPr>
          <p:cNvPr id="6" name="Text 3"/>
          <p:cNvSpPr txBox="1"/>
          <p:nvPr/>
        </p:nvSpPr>
        <p:spPr>
          <a:xfrm>
            <a:off x="685800" y="2331720"/>
            <a:ext cx="2103120" cy="365760"/>
          </a:xfrm>
          <a:prstGeom prst="rect">
            <a:avLst/>
          </a:prstGeom>
          <a:noFill/>
          <a:ln/>
        </p:spPr>
        <p:txBody>
          <a:bodyPr wrap="square" lIns="0" tIns="0" rIns="0" bIns="0" rtlCol="0" anchor="t"/>
          <a:lstStyle/>
          <a:p>
            <a:pPr marL="0" indent="0">
              <a:buNone/>
            </a:pPr>
            <a:r>
              <a:rPr lang="en-US" sz="2200" b="1" dirty="0">
                <a:solidFill>
                  <a:schemeClr val="tx2"/>
                </a:solidFill>
              </a:rPr>
              <a:t>Chatter</a:t>
            </a:r>
            <a:endParaRPr lang="en-US" sz="2200" dirty="0"/>
          </a:p>
        </p:txBody>
      </p:sp>
      <p:sp>
        <p:nvSpPr>
          <p:cNvPr id="7" name="Text 4"/>
          <p:cNvSpPr txBox="1"/>
          <p:nvPr/>
        </p:nvSpPr>
        <p:spPr>
          <a:xfrm>
            <a:off x="685800" y="2788920"/>
            <a:ext cx="2103120" cy="1325880"/>
          </a:xfrm>
          <a:prstGeom prst="rect">
            <a:avLst/>
          </a:prstGeom>
          <a:noFill/>
          <a:ln/>
        </p:spPr>
        <p:txBody>
          <a:bodyPr wrap="square" lIns="0" tIns="0" rIns="0" bIns="0" rtlCol="0" anchor="t"/>
          <a:lstStyle/>
          <a:p>
            <a:pPr marL="0" indent="0">
              <a:buNone/>
            </a:pPr>
            <a:r>
              <a:rPr lang="en-US" sz="1400" dirty="0">
                <a:solidFill>
                  <a:schemeClr val="tx1"/>
                </a:solidFill>
              </a:rPr>
              <a:t>Vibración entre herramienta y pieza durante el corte. Deja marcas repetitivas que arruinan el acabado superficial.</a:t>
            </a:r>
            <a:endParaRPr lang="en-US" sz="1400" dirty="0"/>
          </a:p>
        </p:txBody>
      </p:sp>
      <p:sp>
        <p:nvSpPr>
          <p:cNvPr id="8" name="Tarjeta Rayaduras"/>
          <p:cNvSpPr/>
          <p:nvPr/>
        </p:nvSpPr>
        <p:spPr>
          <a:xfrm>
            <a:off x="3291840" y="1325880"/>
            <a:ext cx="2560320" cy="2880360"/>
          </a:xfrm>
          <a:prstGeom prst="roundRect">
            <a:avLst>
              <a:gd name="adj" fmla="val 4286"/>
            </a:avLst>
          </a:prstGeom>
          <a:solidFill>
            <a:schemeClr val="bg2"/>
          </a:solidFill>
          <a:ln/>
          <a:effectLst>
            <a:outerShdw blurRad="76200" dist="25400" dir="5400000" algn="bl" rotWithShape="0">
              <a:srgbClr val="000000">
                <a:alpha val="12000"/>
              </a:srgbClr>
            </a:outerShdw>
          </a:effectLst>
        </p:spPr>
      </p:sp>
      <p:sp>
        <p:nvSpPr>
          <p:cNvPr id="11" name="Text 7"/>
          <p:cNvSpPr txBox="1"/>
          <p:nvPr/>
        </p:nvSpPr>
        <p:spPr>
          <a:xfrm>
            <a:off x="3520440" y="2331720"/>
            <a:ext cx="2103120" cy="365760"/>
          </a:xfrm>
          <a:prstGeom prst="rect">
            <a:avLst/>
          </a:prstGeom>
          <a:noFill/>
          <a:ln/>
        </p:spPr>
        <p:txBody>
          <a:bodyPr wrap="square" lIns="0" tIns="0" rIns="0" bIns="0" rtlCol="0" anchor="t"/>
          <a:lstStyle/>
          <a:p>
            <a:pPr marL="0" indent="0">
              <a:buNone/>
            </a:pPr>
            <a:r>
              <a:rPr lang="en-US" sz="2200" b="1" dirty="0">
                <a:solidFill>
                  <a:schemeClr val="tx2"/>
                </a:solidFill>
              </a:rPr>
              <a:t>Rayaduras</a:t>
            </a:r>
            <a:endParaRPr lang="en-US" sz="2200" dirty="0"/>
          </a:p>
        </p:txBody>
      </p:sp>
      <p:sp>
        <p:nvSpPr>
          <p:cNvPr id="12" name="Text 8"/>
          <p:cNvSpPr txBox="1"/>
          <p:nvPr/>
        </p:nvSpPr>
        <p:spPr>
          <a:xfrm>
            <a:off x="3520440" y="2788920"/>
            <a:ext cx="2103120" cy="1325880"/>
          </a:xfrm>
          <a:prstGeom prst="rect">
            <a:avLst/>
          </a:prstGeom>
          <a:noFill/>
          <a:ln/>
        </p:spPr>
        <p:txBody>
          <a:bodyPr wrap="square" lIns="0" tIns="0" rIns="0" bIns="0" rtlCol="0" anchor="t"/>
          <a:lstStyle/>
          <a:p>
            <a:pPr marL="0" indent="0">
              <a:buNone/>
            </a:pPr>
            <a:r>
              <a:rPr lang="en-US" sz="1400" dirty="0">
                <a:solidFill>
                  <a:schemeClr val="tx1"/>
                </a:solidFill>
              </a:rPr>
              <a:t>Marcas o rayas visibles sobre la superficie, producidas por la interacción herramienta–material o por el acabado.</a:t>
            </a:r>
            <a:endParaRPr lang="en-US" sz="1400" dirty="0"/>
          </a:p>
        </p:txBody>
      </p:sp>
      <p:sp>
        <p:nvSpPr>
          <p:cNvPr id="13" name="Tarjeta Rebabas"/>
          <p:cNvSpPr/>
          <p:nvPr/>
        </p:nvSpPr>
        <p:spPr>
          <a:xfrm>
            <a:off x="6126480" y="1325880"/>
            <a:ext cx="2560320" cy="2880360"/>
          </a:xfrm>
          <a:prstGeom prst="roundRect">
            <a:avLst>
              <a:gd name="adj" fmla="val 4286"/>
            </a:avLst>
          </a:prstGeom>
          <a:solidFill>
            <a:schemeClr val="bg2"/>
          </a:solidFill>
          <a:ln/>
          <a:effectLst>
            <a:outerShdw blurRad="76200" dist="25400" dir="5400000" algn="bl" rotWithShape="0">
              <a:srgbClr val="000000">
                <a:alpha val="12000"/>
              </a:srgbClr>
            </a:outerShdw>
          </a:effectLst>
        </p:spPr>
      </p:sp>
      <p:sp>
        <p:nvSpPr>
          <p:cNvPr id="16" name="Text 11"/>
          <p:cNvSpPr txBox="1"/>
          <p:nvPr/>
        </p:nvSpPr>
        <p:spPr>
          <a:xfrm>
            <a:off x="6355080" y="2331720"/>
            <a:ext cx="2103120" cy="365760"/>
          </a:xfrm>
          <a:prstGeom prst="rect">
            <a:avLst/>
          </a:prstGeom>
          <a:noFill/>
          <a:ln/>
        </p:spPr>
        <p:txBody>
          <a:bodyPr wrap="square" lIns="0" tIns="0" rIns="0" bIns="0" rtlCol="0" anchor="t"/>
          <a:lstStyle/>
          <a:p>
            <a:pPr marL="0" indent="0">
              <a:buNone/>
            </a:pPr>
            <a:r>
              <a:rPr lang="en-US" sz="2200" b="1" dirty="0">
                <a:solidFill>
                  <a:schemeClr val="tx2"/>
                </a:solidFill>
              </a:rPr>
              <a:t>Rebabas</a:t>
            </a:r>
            <a:endParaRPr lang="en-US" sz="2200" dirty="0"/>
          </a:p>
        </p:txBody>
      </p:sp>
      <p:sp>
        <p:nvSpPr>
          <p:cNvPr id="17" name="Text 12"/>
          <p:cNvSpPr txBox="1"/>
          <p:nvPr/>
        </p:nvSpPr>
        <p:spPr>
          <a:xfrm>
            <a:off x="6355080" y="2788920"/>
            <a:ext cx="2103120" cy="1325880"/>
          </a:xfrm>
          <a:prstGeom prst="rect">
            <a:avLst/>
          </a:prstGeom>
          <a:noFill/>
          <a:ln/>
        </p:spPr>
        <p:txBody>
          <a:bodyPr wrap="square" lIns="0" tIns="0" rIns="0" bIns="0" rtlCol="0" anchor="t"/>
          <a:lstStyle/>
          <a:p>
            <a:pPr marL="0" indent="0">
              <a:buNone/>
            </a:pPr>
            <a:r>
              <a:rPr lang="en-US" sz="1400" dirty="0">
                <a:solidFill>
                  <a:schemeClr val="tx1"/>
                </a:solidFill>
              </a:rPr>
              <a:t>Material sobrante en bordes o zonas mecanizadas, formado por deformación y desgarre del material al cortar.</a:t>
            </a:r>
            <a:endParaRPr lang="en-US" sz="1400" dirty="0"/>
          </a:p>
        </p:txBody>
      </p:sp>
      <p:sp>
        <p:nvSpPr>
          <p:cNvPr id="18" name="Nota Pieza_OK"/>
          <p:cNvSpPr/>
          <p:nvPr/>
        </p:nvSpPr>
        <p:spPr>
          <a:xfrm>
            <a:off x="457200" y="4343400"/>
            <a:ext cx="8229600" cy="347472"/>
          </a:xfrm>
          <a:prstGeom prst="roundRect">
            <a:avLst>
              <a:gd name="adj" fmla="val 31579"/>
            </a:avLst>
          </a:prstGeom>
          <a:solidFill>
            <a:schemeClr val="tx2"/>
          </a:solidFill>
          <a:ln/>
        </p:spPr>
      </p:sp>
      <p:sp>
        <p:nvSpPr>
          <p:cNvPr id="19" name="Text 14"/>
          <p:cNvSpPr txBox="1"/>
          <p:nvPr/>
        </p:nvSpPr>
        <p:spPr>
          <a:xfrm>
            <a:off x="640080" y="4343400"/>
            <a:ext cx="7863840" cy="347472"/>
          </a:xfrm>
          <a:prstGeom prst="rect">
            <a:avLst/>
          </a:prstGeom>
          <a:noFill/>
          <a:ln/>
        </p:spPr>
        <p:txBody>
          <a:bodyPr wrap="square" lIns="0" tIns="0" rIns="0" bIns="0" rtlCol="0" anchor="ctr"/>
          <a:lstStyle/>
          <a:p>
            <a:pPr marL="0" indent="0">
              <a:buNone/>
            </a:pPr>
            <a:r>
              <a:rPr lang="en-US" sz="1400" dirty="0">
                <a:solidFill>
                  <a:schemeClr val="bg1"/>
                </a:solidFill>
              </a:rPr>
              <a:t>Pieza_OK: pieza aceptable, sin ninguno de estos defectos.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4</a:t>
            </a:fld>
            <a:endParaRPr lang="en-US"/>
          </a:p>
        </p:txBody>
      </p:sp>
      <p:pic>
        <p:nvPicPr>
          <p:cNvPr id="22" name="Imagen 21">
            <a:extLst>
              <a:ext uri="{FF2B5EF4-FFF2-40B4-BE49-F238E27FC236}">
                <a16:creationId xmlns:a16="http://schemas.microsoft.com/office/drawing/2014/main" id="{8CF53C5B-8EE7-7C5B-984D-9566BF206791}"/>
              </a:ext>
            </a:extLst>
          </p:cNvPr>
          <p:cNvPicPr>
            <a:picLocks noChangeAspect="1"/>
          </p:cNvPicPr>
          <p:nvPr/>
        </p:nvPicPr>
        <p:blipFill>
          <a:blip r:embed="rId3"/>
          <a:stretch>
            <a:fillRect/>
          </a:stretch>
        </p:blipFill>
        <p:spPr>
          <a:xfrm>
            <a:off x="6400800" y="1454014"/>
            <a:ext cx="2103120" cy="86096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4" name="Imagen 23">
            <a:extLst>
              <a:ext uri="{FF2B5EF4-FFF2-40B4-BE49-F238E27FC236}">
                <a16:creationId xmlns:a16="http://schemas.microsoft.com/office/drawing/2014/main" id="{31E26109-60D4-45CA-D67D-0256D165AC6F}"/>
              </a:ext>
            </a:extLst>
          </p:cNvPr>
          <p:cNvPicPr>
            <a:picLocks noChangeAspect="1"/>
          </p:cNvPicPr>
          <p:nvPr/>
        </p:nvPicPr>
        <p:blipFill>
          <a:blip r:embed="rId4"/>
          <a:srcRect l="28422" t="7949" r="19155" b="18290"/>
          <a:stretch>
            <a:fillRect/>
          </a:stretch>
        </p:blipFill>
        <p:spPr>
          <a:xfrm rot="16200000">
            <a:off x="1324658" y="815158"/>
            <a:ext cx="850987" cy="21287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7" name="Imagen 26">
            <a:extLst>
              <a:ext uri="{FF2B5EF4-FFF2-40B4-BE49-F238E27FC236}">
                <a16:creationId xmlns:a16="http://schemas.microsoft.com/office/drawing/2014/main" id="{1034EB07-DB13-2D9B-30BC-C056D001A7A2}"/>
              </a:ext>
            </a:extLst>
          </p:cNvPr>
          <p:cNvPicPr>
            <a:picLocks noChangeAspect="1"/>
          </p:cNvPicPr>
          <p:nvPr/>
        </p:nvPicPr>
        <p:blipFill>
          <a:blip r:embed="rId5"/>
          <a:stretch>
            <a:fillRect/>
          </a:stretch>
        </p:blipFill>
        <p:spPr>
          <a:xfrm rot="16200000">
            <a:off x="4063598" y="1100068"/>
            <a:ext cx="880523" cy="155887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lIns="0" tIns="0" rIns="0" bIns="0" rtlCol="0" anchor="ctr"/>
          <a:lstStyle/>
          <a:p>
            <a:pPr marL="0" indent="0" algn="l">
              <a:buNone/>
            </a:pPr>
            <a:r>
              <a:rPr lang="en-US" sz="3600" b="1" dirty="0">
                <a:solidFill>
                  <a:schemeClr val="tx2"/>
                </a:solidFill>
              </a:rPr>
              <a:t>Metodología</a:t>
            </a:r>
            <a:endParaRPr lang="en-US" sz="3600" dirty="0"/>
          </a:p>
        </p:txBody>
      </p:sp>
      <p:sp>
        <p:nvSpPr>
          <p:cNvPr id="3" name="Flecha 1"/>
          <p:cNvSpPr/>
          <p:nvPr/>
        </p:nvSpPr>
        <p:spPr>
          <a:xfrm>
            <a:off x="1554480" y="1828800"/>
            <a:ext cx="548640" cy="0"/>
          </a:xfrm>
          <a:prstGeom prst="line">
            <a:avLst/>
          </a:prstGeom>
          <a:noFill/>
          <a:ln w="19050">
            <a:solidFill>
              <a:schemeClr val="accent4"/>
            </a:solidFill>
            <a:prstDash val="solid"/>
            <a:tailEnd type="triangle"/>
          </a:ln>
        </p:spPr>
      </p:sp>
      <p:sp>
        <p:nvSpPr>
          <p:cNvPr id="4" name="Paso 1"/>
          <p:cNvSpPr/>
          <p:nvPr/>
        </p:nvSpPr>
        <p:spPr>
          <a:xfrm>
            <a:off x="822960" y="1508760"/>
            <a:ext cx="640080" cy="640080"/>
          </a:xfrm>
          <a:prstGeom prst="ellipse">
            <a:avLst/>
          </a:prstGeom>
          <a:solidFill>
            <a:schemeClr val="tx2"/>
          </a:solidFill>
          <a:ln/>
        </p:spPr>
      </p:sp>
      <p:sp>
        <p:nvSpPr>
          <p:cNvPr id="5" name="Text 3"/>
          <p:cNvSpPr txBox="1"/>
          <p:nvPr/>
        </p:nvSpPr>
        <p:spPr>
          <a:xfrm>
            <a:off x="822960" y="150876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Text 4"/>
          <p:cNvSpPr txBox="1"/>
          <p:nvPr/>
        </p:nvSpPr>
        <p:spPr>
          <a:xfrm>
            <a:off x="502920" y="2331720"/>
            <a:ext cx="1280160" cy="502920"/>
          </a:xfrm>
          <a:prstGeom prst="rect">
            <a:avLst/>
          </a:prstGeom>
          <a:noFill/>
          <a:ln/>
        </p:spPr>
        <p:txBody>
          <a:bodyPr wrap="square" lIns="0" tIns="0" rIns="0" bIns="0" rtlCol="0" anchor="t"/>
          <a:lstStyle/>
          <a:p>
            <a:pPr marL="0" indent="0" algn="ctr">
              <a:buNone/>
            </a:pPr>
            <a:r>
              <a:rPr lang="en-US" sz="1400" b="1" dirty="0">
                <a:solidFill>
                  <a:schemeClr val="tx2"/>
                </a:solidFill>
              </a:rPr>
              <a:t>Dataset</a:t>
            </a:r>
            <a:endParaRPr lang="en-US" sz="1400" dirty="0"/>
          </a:p>
        </p:txBody>
      </p:sp>
      <p:sp>
        <p:nvSpPr>
          <p:cNvPr id="7" name="Text 5"/>
          <p:cNvSpPr txBox="1"/>
          <p:nvPr/>
        </p:nvSpPr>
        <p:spPr>
          <a:xfrm>
            <a:off x="502920" y="2880360"/>
            <a:ext cx="1280160" cy="502920"/>
          </a:xfrm>
          <a:prstGeom prst="rect">
            <a:avLst/>
          </a:prstGeom>
          <a:noFill/>
          <a:ln/>
        </p:spPr>
        <p:txBody>
          <a:bodyPr wrap="square" lIns="0" tIns="0" rIns="0" bIns="0" rtlCol="0" anchor="t"/>
          <a:lstStyle/>
          <a:p>
            <a:pPr marL="0" indent="0" algn="ctr">
              <a:buNone/>
            </a:pPr>
            <a:r>
              <a:rPr lang="en-US" sz="1200" dirty="0">
                <a:solidFill>
                  <a:schemeClr val="accent4"/>
                </a:solidFill>
              </a:rPr>
              <a:t>Fotos propias en 4 clases</a:t>
            </a:r>
            <a:endParaRPr lang="en-US" sz="1200" dirty="0"/>
          </a:p>
        </p:txBody>
      </p:sp>
      <p:sp>
        <p:nvSpPr>
          <p:cNvPr id="8" name="Flecha 2"/>
          <p:cNvSpPr/>
          <p:nvPr/>
        </p:nvSpPr>
        <p:spPr>
          <a:xfrm>
            <a:off x="2926080" y="1828800"/>
            <a:ext cx="548640" cy="0"/>
          </a:xfrm>
          <a:prstGeom prst="line">
            <a:avLst/>
          </a:prstGeom>
          <a:noFill/>
          <a:ln w="19050">
            <a:solidFill>
              <a:schemeClr val="accent4"/>
            </a:solidFill>
            <a:prstDash val="solid"/>
            <a:tailEnd type="triangle"/>
          </a:ln>
        </p:spPr>
      </p:sp>
      <p:sp>
        <p:nvSpPr>
          <p:cNvPr id="9" name="Paso 2"/>
          <p:cNvSpPr/>
          <p:nvPr/>
        </p:nvSpPr>
        <p:spPr>
          <a:xfrm>
            <a:off x="2194560" y="1508760"/>
            <a:ext cx="640080" cy="640080"/>
          </a:xfrm>
          <a:prstGeom prst="ellipse">
            <a:avLst/>
          </a:prstGeom>
          <a:solidFill>
            <a:schemeClr val="tx2"/>
          </a:solidFill>
          <a:ln/>
        </p:spPr>
      </p:sp>
      <p:sp>
        <p:nvSpPr>
          <p:cNvPr id="10" name="Text 8"/>
          <p:cNvSpPr txBox="1"/>
          <p:nvPr/>
        </p:nvSpPr>
        <p:spPr>
          <a:xfrm>
            <a:off x="2194560" y="150876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1" name="Text 9"/>
          <p:cNvSpPr txBox="1"/>
          <p:nvPr/>
        </p:nvSpPr>
        <p:spPr>
          <a:xfrm>
            <a:off x="1874520" y="2331720"/>
            <a:ext cx="1280160" cy="502920"/>
          </a:xfrm>
          <a:prstGeom prst="rect">
            <a:avLst/>
          </a:prstGeom>
          <a:noFill/>
          <a:ln/>
        </p:spPr>
        <p:txBody>
          <a:bodyPr wrap="square" lIns="0" tIns="0" rIns="0" bIns="0" rtlCol="0" anchor="t"/>
          <a:lstStyle/>
          <a:p>
            <a:pPr marL="0" indent="0" algn="ctr">
              <a:buNone/>
            </a:pPr>
            <a:r>
              <a:rPr lang="en-US" sz="1400" b="1" dirty="0">
                <a:solidFill>
                  <a:schemeClr val="tx2"/>
                </a:solidFill>
              </a:rPr>
              <a:t>Entrenamiento</a:t>
            </a:r>
            <a:endParaRPr lang="en-US" sz="1400" dirty="0"/>
          </a:p>
        </p:txBody>
      </p:sp>
      <p:sp>
        <p:nvSpPr>
          <p:cNvPr id="12" name="Text 10"/>
          <p:cNvSpPr txBox="1"/>
          <p:nvPr/>
        </p:nvSpPr>
        <p:spPr>
          <a:xfrm>
            <a:off x="1874520" y="2880360"/>
            <a:ext cx="1280160" cy="502920"/>
          </a:xfrm>
          <a:prstGeom prst="rect">
            <a:avLst/>
          </a:prstGeom>
          <a:noFill/>
          <a:ln/>
        </p:spPr>
        <p:txBody>
          <a:bodyPr wrap="square" lIns="0" tIns="0" rIns="0" bIns="0" rtlCol="0" anchor="t"/>
          <a:lstStyle/>
          <a:p>
            <a:pPr marL="0" indent="0" algn="ctr">
              <a:buNone/>
            </a:pPr>
            <a:r>
              <a:rPr lang="en-US" sz="1200" dirty="0">
                <a:solidFill>
                  <a:schemeClr val="accent4"/>
                </a:solidFill>
              </a:rPr>
              <a:t>Teachable Machine</a:t>
            </a:r>
            <a:endParaRPr lang="en-US" sz="1200" dirty="0"/>
          </a:p>
        </p:txBody>
      </p:sp>
      <p:sp>
        <p:nvSpPr>
          <p:cNvPr id="13" name="Flecha 3"/>
          <p:cNvSpPr/>
          <p:nvPr/>
        </p:nvSpPr>
        <p:spPr>
          <a:xfrm>
            <a:off x="4297680" y="1828800"/>
            <a:ext cx="548640" cy="0"/>
          </a:xfrm>
          <a:prstGeom prst="line">
            <a:avLst/>
          </a:prstGeom>
          <a:noFill/>
          <a:ln w="19050">
            <a:solidFill>
              <a:schemeClr val="accent4"/>
            </a:solidFill>
            <a:prstDash val="solid"/>
            <a:tailEnd type="triangle"/>
          </a:ln>
        </p:spPr>
      </p:sp>
      <p:sp>
        <p:nvSpPr>
          <p:cNvPr id="14" name="Paso 3"/>
          <p:cNvSpPr/>
          <p:nvPr/>
        </p:nvSpPr>
        <p:spPr>
          <a:xfrm>
            <a:off x="3566160" y="1508760"/>
            <a:ext cx="640080" cy="640080"/>
          </a:xfrm>
          <a:prstGeom prst="ellipse">
            <a:avLst/>
          </a:prstGeom>
          <a:solidFill>
            <a:schemeClr val="tx2"/>
          </a:solidFill>
          <a:ln/>
        </p:spPr>
      </p:sp>
      <p:sp>
        <p:nvSpPr>
          <p:cNvPr id="15" name="Text 13"/>
          <p:cNvSpPr txBox="1"/>
          <p:nvPr/>
        </p:nvSpPr>
        <p:spPr>
          <a:xfrm>
            <a:off x="3566160" y="150876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6" name="Text 14"/>
          <p:cNvSpPr txBox="1"/>
          <p:nvPr/>
        </p:nvSpPr>
        <p:spPr>
          <a:xfrm>
            <a:off x="3246120" y="2331720"/>
            <a:ext cx="1280160" cy="502920"/>
          </a:xfrm>
          <a:prstGeom prst="rect">
            <a:avLst/>
          </a:prstGeom>
          <a:noFill/>
          <a:ln/>
        </p:spPr>
        <p:txBody>
          <a:bodyPr wrap="square" lIns="0" tIns="0" rIns="0" bIns="0" rtlCol="0" anchor="t"/>
          <a:lstStyle/>
          <a:p>
            <a:pPr marL="0" indent="0" algn="ctr">
              <a:buNone/>
            </a:pPr>
            <a:r>
              <a:rPr lang="en-US" sz="1400" b="1" dirty="0">
                <a:solidFill>
                  <a:schemeClr val="tx2"/>
                </a:solidFill>
              </a:rPr>
              <a:t>Software</a:t>
            </a:r>
            <a:endParaRPr lang="en-US" sz="1400" dirty="0"/>
          </a:p>
        </p:txBody>
      </p:sp>
      <p:sp>
        <p:nvSpPr>
          <p:cNvPr id="17" name="Text 15"/>
          <p:cNvSpPr txBox="1"/>
          <p:nvPr/>
        </p:nvSpPr>
        <p:spPr>
          <a:xfrm>
            <a:off x="3246120" y="2880360"/>
            <a:ext cx="1280160" cy="502920"/>
          </a:xfrm>
          <a:prstGeom prst="rect">
            <a:avLst/>
          </a:prstGeom>
          <a:noFill/>
          <a:ln/>
        </p:spPr>
        <p:txBody>
          <a:bodyPr wrap="square" lIns="0" tIns="0" rIns="0" bIns="0" rtlCol="0" anchor="t"/>
          <a:lstStyle/>
          <a:p>
            <a:pPr marL="0" indent="0" algn="ctr">
              <a:buNone/>
            </a:pPr>
            <a:r>
              <a:rPr lang="en-US" sz="1200" dirty="0">
                <a:solidFill>
                  <a:schemeClr val="accent4"/>
                </a:solidFill>
              </a:rPr>
              <a:t>Python + CustomTkinter</a:t>
            </a:r>
            <a:endParaRPr lang="en-US" sz="1200" dirty="0"/>
          </a:p>
        </p:txBody>
      </p:sp>
      <p:sp>
        <p:nvSpPr>
          <p:cNvPr id="18" name="Flecha 4"/>
          <p:cNvSpPr/>
          <p:nvPr/>
        </p:nvSpPr>
        <p:spPr>
          <a:xfrm>
            <a:off x="5669280" y="1828800"/>
            <a:ext cx="548640" cy="0"/>
          </a:xfrm>
          <a:prstGeom prst="line">
            <a:avLst/>
          </a:prstGeom>
          <a:noFill/>
          <a:ln w="19050">
            <a:solidFill>
              <a:schemeClr val="accent4"/>
            </a:solidFill>
            <a:prstDash val="solid"/>
            <a:tailEnd type="triangle"/>
          </a:ln>
        </p:spPr>
      </p:sp>
      <p:sp>
        <p:nvSpPr>
          <p:cNvPr id="19" name="Paso 4"/>
          <p:cNvSpPr/>
          <p:nvPr/>
        </p:nvSpPr>
        <p:spPr>
          <a:xfrm>
            <a:off x="4937760" y="1508760"/>
            <a:ext cx="640080" cy="640080"/>
          </a:xfrm>
          <a:prstGeom prst="ellipse">
            <a:avLst/>
          </a:prstGeom>
          <a:solidFill>
            <a:schemeClr val="tx2"/>
          </a:solidFill>
          <a:ln/>
        </p:spPr>
      </p:sp>
      <p:sp>
        <p:nvSpPr>
          <p:cNvPr id="20" name="Text 18"/>
          <p:cNvSpPr txBox="1"/>
          <p:nvPr/>
        </p:nvSpPr>
        <p:spPr>
          <a:xfrm>
            <a:off x="4937760" y="150876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21" name="Text 19"/>
          <p:cNvSpPr txBox="1"/>
          <p:nvPr/>
        </p:nvSpPr>
        <p:spPr>
          <a:xfrm>
            <a:off x="4617720" y="2331720"/>
            <a:ext cx="1280160" cy="502920"/>
          </a:xfrm>
          <a:prstGeom prst="rect">
            <a:avLst/>
          </a:prstGeom>
          <a:noFill/>
          <a:ln/>
        </p:spPr>
        <p:txBody>
          <a:bodyPr wrap="square" lIns="0" tIns="0" rIns="0" bIns="0" rtlCol="0" anchor="t"/>
          <a:lstStyle/>
          <a:p>
            <a:pPr marL="0" indent="0" algn="ctr">
              <a:buNone/>
            </a:pPr>
            <a:r>
              <a:rPr lang="en-US" sz="1400" b="1" dirty="0">
                <a:solidFill>
                  <a:schemeClr val="tx2"/>
                </a:solidFill>
              </a:rPr>
              <a:t>Cámara y preproceso</a:t>
            </a:r>
            <a:endParaRPr lang="en-US" sz="1400" dirty="0"/>
          </a:p>
        </p:txBody>
      </p:sp>
      <p:sp>
        <p:nvSpPr>
          <p:cNvPr id="22" name="Text 20"/>
          <p:cNvSpPr txBox="1"/>
          <p:nvPr/>
        </p:nvSpPr>
        <p:spPr>
          <a:xfrm>
            <a:off x="4617720" y="2880360"/>
            <a:ext cx="1280160" cy="502920"/>
          </a:xfrm>
          <a:prstGeom prst="rect">
            <a:avLst/>
          </a:prstGeom>
          <a:noFill/>
          <a:ln/>
        </p:spPr>
        <p:txBody>
          <a:bodyPr wrap="square" lIns="0" tIns="0" rIns="0" bIns="0" rtlCol="0" anchor="t"/>
          <a:lstStyle/>
          <a:p>
            <a:pPr marL="0" indent="0" algn="ctr">
              <a:buNone/>
            </a:pPr>
            <a:r>
              <a:rPr lang="en-US" sz="1200" dirty="0">
                <a:solidFill>
                  <a:schemeClr val="accent4"/>
                </a:solidFill>
              </a:rPr>
              <a:t>OpenCV + Camo</a:t>
            </a:r>
            <a:endParaRPr lang="en-US" sz="1200" dirty="0"/>
          </a:p>
        </p:txBody>
      </p:sp>
      <p:sp>
        <p:nvSpPr>
          <p:cNvPr id="23" name="Flecha 5"/>
          <p:cNvSpPr/>
          <p:nvPr/>
        </p:nvSpPr>
        <p:spPr>
          <a:xfrm>
            <a:off x="7040880" y="1828800"/>
            <a:ext cx="548640" cy="0"/>
          </a:xfrm>
          <a:prstGeom prst="line">
            <a:avLst/>
          </a:prstGeom>
          <a:noFill/>
          <a:ln w="19050">
            <a:solidFill>
              <a:schemeClr val="accent4"/>
            </a:solidFill>
            <a:prstDash val="solid"/>
            <a:tailEnd type="triangle"/>
          </a:ln>
        </p:spPr>
      </p:sp>
      <p:sp>
        <p:nvSpPr>
          <p:cNvPr id="24" name="Paso 5"/>
          <p:cNvSpPr/>
          <p:nvPr/>
        </p:nvSpPr>
        <p:spPr>
          <a:xfrm>
            <a:off x="6309360" y="1508760"/>
            <a:ext cx="640080" cy="640080"/>
          </a:xfrm>
          <a:prstGeom prst="ellipse">
            <a:avLst/>
          </a:prstGeom>
          <a:solidFill>
            <a:schemeClr val="tx2"/>
          </a:solidFill>
          <a:ln/>
        </p:spPr>
      </p:sp>
      <p:sp>
        <p:nvSpPr>
          <p:cNvPr id="25" name="Text 23"/>
          <p:cNvSpPr txBox="1"/>
          <p:nvPr/>
        </p:nvSpPr>
        <p:spPr>
          <a:xfrm>
            <a:off x="6309360" y="150876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5</a:t>
            </a:r>
            <a:endParaRPr lang="en-US" sz="2200" dirty="0"/>
          </a:p>
        </p:txBody>
      </p:sp>
      <p:sp>
        <p:nvSpPr>
          <p:cNvPr id="26" name="Text 24"/>
          <p:cNvSpPr txBox="1"/>
          <p:nvPr/>
        </p:nvSpPr>
        <p:spPr>
          <a:xfrm>
            <a:off x="5989320" y="2331720"/>
            <a:ext cx="1280160" cy="502920"/>
          </a:xfrm>
          <a:prstGeom prst="rect">
            <a:avLst/>
          </a:prstGeom>
          <a:noFill/>
          <a:ln/>
        </p:spPr>
        <p:txBody>
          <a:bodyPr wrap="square" lIns="0" tIns="0" rIns="0" bIns="0" rtlCol="0" anchor="t"/>
          <a:lstStyle/>
          <a:p>
            <a:pPr marL="0" indent="0" algn="ctr">
              <a:buNone/>
            </a:pPr>
            <a:r>
              <a:rPr lang="en-US" sz="1400" b="1" dirty="0">
                <a:solidFill>
                  <a:schemeClr val="tx2"/>
                </a:solidFill>
              </a:rPr>
              <a:t>Clasificación</a:t>
            </a:r>
            <a:endParaRPr lang="en-US" sz="1400" dirty="0"/>
          </a:p>
        </p:txBody>
      </p:sp>
      <p:sp>
        <p:nvSpPr>
          <p:cNvPr id="27" name="Text 25"/>
          <p:cNvSpPr txBox="1"/>
          <p:nvPr/>
        </p:nvSpPr>
        <p:spPr>
          <a:xfrm>
            <a:off x="5989320" y="2880360"/>
            <a:ext cx="1280160" cy="502920"/>
          </a:xfrm>
          <a:prstGeom prst="rect">
            <a:avLst/>
          </a:prstGeom>
          <a:noFill/>
          <a:ln/>
        </p:spPr>
        <p:txBody>
          <a:bodyPr wrap="square" lIns="0" tIns="0" rIns="0" bIns="0" rtlCol="0" anchor="t"/>
          <a:lstStyle/>
          <a:p>
            <a:pPr marL="0" indent="0" algn="ctr">
              <a:buNone/>
            </a:pPr>
            <a:r>
              <a:rPr lang="en-US" sz="1200" dirty="0">
                <a:solidFill>
                  <a:schemeClr val="accent4"/>
                </a:solidFill>
              </a:rPr>
              <a:t>Salida × 100 = %</a:t>
            </a:r>
            <a:endParaRPr lang="en-US" sz="1200" dirty="0"/>
          </a:p>
        </p:txBody>
      </p:sp>
      <p:sp>
        <p:nvSpPr>
          <p:cNvPr id="28" name="Paso 6"/>
          <p:cNvSpPr/>
          <p:nvPr/>
        </p:nvSpPr>
        <p:spPr>
          <a:xfrm>
            <a:off x="7680960" y="1508760"/>
            <a:ext cx="640080" cy="640080"/>
          </a:xfrm>
          <a:prstGeom prst="ellipse">
            <a:avLst/>
          </a:prstGeom>
          <a:solidFill>
            <a:schemeClr val="tx2"/>
          </a:solidFill>
          <a:ln/>
        </p:spPr>
      </p:sp>
      <p:sp>
        <p:nvSpPr>
          <p:cNvPr id="29" name="Text 27"/>
          <p:cNvSpPr txBox="1"/>
          <p:nvPr/>
        </p:nvSpPr>
        <p:spPr>
          <a:xfrm>
            <a:off x="7680960" y="150876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6</a:t>
            </a:r>
            <a:endParaRPr lang="en-US" sz="2200" dirty="0"/>
          </a:p>
        </p:txBody>
      </p:sp>
      <p:sp>
        <p:nvSpPr>
          <p:cNvPr id="30" name="Text 28"/>
          <p:cNvSpPr txBox="1"/>
          <p:nvPr/>
        </p:nvSpPr>
        <p:spPr>
          <a:xfrm>
            <a:off x="7360920" y="2331720"/>
            <a:ext cx="1280160" cy="502920"/>
          </a:xfrm>
          <a:prstGeom prst="rect">
            <a:avLst/>
          </a:prstGeom>
          <a:noFill/>
          <a:ln/>
        </p:spPr>
        <p:txBody>
          <a:bodyPr wrap="square" lIns="0" tIns="0" rIns="0" bIns="0" rtlCol="0" anchor="t"/>
          <a:lstStyle/>
          <a:p>
            <a:pPr marL="0" indent="0" algn="ctr">
              <a:buNone/>
            </a:pPr>
            <a:r>
              <a:rPr lang="en-US" sz="1400" b="1" dirty="0">
                <a:solidFill>
                  <a:schemeClr val="tx2"/>
                </a:solidFill>
              </a:rPr>
              <a:t>Pruebas</a:t>
            </a:r>
            <a:endParaRPr lang="en-US" sz="1400" dirty="0"/>
          </a:p>
        </p:txBody>
      </p:sp>
      <p:sp>
        <p:nvSpPr>
          <p:cNvPr id="31" name="Text 29"/>
          <p:cNvSpPr txBox="1"/>
          <p:nvPr/>
        </p:nvSpPr>
        <p:spPr>
          <a:xfrm>
            <a:off x="7360920" y="2880360"/>
            <a:ext cx="1280160" cy="502920"/>
          </a:xfrm>
          <a:prstGeom prst="rect">
            <a:avLst/>
          </a:prstGeom>
          <a:noFill/>
          <a:ln/>
        </p:spPr>
        <p:txBody>
          <a:bodyPr wrap="square" lIns="0" tIns="0" rIns="0" bIns="0" rtlCol="0" anchor="t"/>
          <a:lstStyle/>
          <a:p>
            <a:pPr marL="0" indent="0" algn="ctr">
              <a:buNone/>
            </a:pPr>
            <a:r>
              <a:rPr lang="en-US" sz="1200" dirty="0">
                <a:solidFill>
                  <a:schemeClr val="accent4"/>
                </a:solidFill>
              </a:rPr>
              <a:t>9 piezas nuevas</a:t>
            </a:r>
            <a:endParaRPr lang="en-US" sz="1200" dirty="0"/>
          </a:p>
        </p:txBody>
      </p:sp>
      <p:sp>
        <p:nvSpPr>
          <p:cNvPr id="32" name="Autoría propia"/>
          <p:cNvSpPr/>
          <p:nvPr/>
        </p:nvSpPr>
        <p:spPr>
          <a:xfrm>
            <a:off x="457200" y="3794760"/>
            <a:ext cx="8229600" cy="685800"/>
          </a:xfrm>
          <a:prstGeom prst="roundRect">
            <a:avLst>
              <a:gd name="adj" fmla="val 16000"/>
            </a:avLst>
          </a:prstGeom>
          <a:solidFill>
            <a:schemeClr val="bg2"/>
          </a:solidFill>
          <a:ln/>
        </p:spPr>
      </p:sp>
      <p:sp>
        <p:nvSpPr>
          <p:cNvPr id="33" name="Text 31"/>
          <p:cNvSpPr txBox="1"/>
          <p:nvPr/>
        </p:nvSpPr>
        <p:spPr>
          <a:xfrm>
            <a:off x="685800" y="3794760"/>
            <a:ext cx="7772400" cy="685800"/>
          </a:xfrm>
          <a:prstGeom prst="rect">
            <a:avLst/>
          </a:prstGeom>
          <a:noFill/>
          <a:ln/>
        </p:spPr>
        <p:txBody>
          <a:bodyPr wrap="square" lIns="0" tIns="0" rIns="0" bIns="0" rtlCol="0" anchor="ctr"/>
          <a:lstStyle/>
          <a:p>
            <a:pPr marL="0" indent="0">
              <a:buNone/>
            </a:pPr>
            <a:r>
              <a:rPr lang="en-US" sz="1400" b="1" dirty="0">
                <a:solidFill>
                  <a:schemeClr val="tx2"/>
                </a:solidFill>
              </a:rPr>
              <a:t>Autoría propia: fotografías del dataset, entrenamiento del modelo y código de la aplicación.</a:t>
            </a:r>
            <a:endParaRPr lang="en-US" sz="1400" dirty="0"/>
          </a:p>
        </p:txBody>
      </p:sp>
      <p:sp>
        <p:nvSpPr>
          <p:cNvPr id="34"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lIns="0" tIns="0" rIns="0" bIns="0" rtlCol="0" anchor="ctr"/>
          <a:lstStyle/>
          <a:p>
            <a:pPr marL="0" indent="0" algn="l">
              <a:buNone/>
            </a:pPr>
            <a:r>
              <a:rPr lang="en-US" sz="3600" b="1" dirty="0">
                <a:solidFill>
                  <a:schemeClr val="tx2"/>
                </a:solidFill>
              </a:rPr>
              <a:t>Dataset propio</a:t>
            </a:r>
            <a:endParaRPr lang="en-US" sz="3600" dirty="0"/>
          </a:p>
        </p:txBody>
      </p:sp>
      <p:pic>
        <p:nvPicPr>
          <p:cNvPr id="3" name="Dataset" descr="Imágenes del dataset organizadas por clase"/>
          <p:cNvPicPr>
            <a:picLocks noChangeAspect="1"/>
          </p:cNvPicPr>
          <p:nvPr/>
        </p:nvPicPr>
        <p:blipFill>
          <a:blip r:embed="rId3"/>
          <a:stretch>
            <a:fillRect/>
          </a:stretch>
        </p:blipFill>
        <p:spPr>
          <a:xfrm>
            <a:off x="457200" y="1325880"/>
            <a:ext cx="4846320" cy="3028950"/>
          </a:xfrm>
          <a:prstGeom prst="rect">
            <a:avLst/>
          </a:prstGeom>
        </p:spPr>
      </p:pic>
      <p:sp>
        <p:nvSpPr>
          <p:cNvPr id="4" name="Ícono cámara (círculo)"/>
          <p:cNvSpPr/>
          <p:nvPr/>
        </p:nvSpPr>
        <p:spPr>
          <a:xfrm>
            <a:off x="5577840" y="1325880"/>
            <a:ext cx="548640" cy="548640"/>
          </a:xfrm>
          <a:prstGeom prst="ellipse">
            <a:avLst/>
          </a:prstGeom>
          <a:solidFill>
            <a:schemeClr val="tx2"/>
          </a:solidFill>
          <a:ln/>
        </p:spPr>
      </p:sp>
      <p:pic>
        <p:nvPicPr>
          <p:cNvPr id="5" name="Ícono cámara" descr="Ícono cámara"/>
          <p:cNvPicPr>
            <a:picLocks noChangeAspect="1"/>
          </p:cNvPicPr>
          <p:nvPr/>
        </p:nvPicPr>
        <p:blipFill>
          <a:blip r:embed="rId4"/>
          <a:stretch>
            <a:fillRect/>
          </a:stretch>
        </p:blipFill>
        <p:spPr>
          <a:xfrm>
            <a:off x="5720486" y="1468526"/>
            <a:ext cx="263347" cy="263347"/>
          </a:xfrm>
          <a:prstGeom prst="rect">
            <a:avLst/>
          </a:prstGeom>
        </p:spPr>
      </p:pic>
      <p:sp>
        <p:nvSpPr>
          <p:cNvPr id="6" name="Text 2"/>
          <p:cNvSpPr txBox="1"/>
          <p:nvPr/>
        </p:nvSpPr>
        <p:spPr>
          <a:xfrm>
            <a:off x="6263640" y="1325880"/>
            <a:ext cx="2423160" cy="548640"/>
          </a:xfrm>
          <a:prstGeom prst="rect">
            <a:avLst/>
          </a:prstGeom>
          <a:noFill/>
          <a:ln/>
        </p:spPr>
        <p:txBody>
          <a:bodyPr wrap="square" lIns="0" tIns="0" rIns="0" bIns="0" rtlCol="0" anchor="ctr"/>
          <a:lstStyle/>
          <a:p>
            <a:pPr marL="0" indent="0">
              <a:buNone/>
            </a:pPr>
            <a:r>
              <a:rPr lang="en-US" sz="2000" b="1" dirty="0">
                <a:solidFill>
                  <a:schemeClr val="tx2"/>
                </a:solidFill>
              </a:rPr>
              <a:t>Fotografías propias</a:t>
            </a:r>
            <a:endParaRPr lang="en-US" sz="2000" dirty="0"/>
          </a:p>
        </p:txBody>
      </p:sp>
      <p:sp>
        <p:nvSpPr>
          <p:cNvPr id="7" name="Text 3"/>
          <p:cNvSpPr txBox="1"/>
          <p:nvPr/>
        </p:nvSpPr>
        <p:spPr>
          <a:xfrm>
            <a:off x="5577840" y="2103120"/>
            <a:ext cx="3108960" cy="1005840"/>
          </a:xfrm>
          <a:prstGeom prst="rect">
            <a:avLst/>
          </a:prstGeom>
          <a:noFill/>
          <a:ln/>
        </p:spPr>
        <p:txBody>
          <a:bodyPr wrap="square" lIns="0" tIns="0" rIns="0" bIns="0" rtlCol="0" anchor="t"/>
          <a:lstStyle/>
          <a:p>
            <a:pPr marL="0" indent="0">
              <a:buNone/>
            </a:pPr>
            <a:r>
              <a:rPr lang="en-US" sz="1400" dirty="0">
                <a:solidFill>
                  <a:schemeClr val="tx1"/>
                </a:solidFill>
              </a:rPr>
              <a:t>Las imágenes se organizaron por categoría para incorporarlas a la plataforma de entrenamiento.</a:t>
            </a:r>
            <a:endParaRPr lang="en-US" sz="1400" dirty="0"/>
          </a:p>
        </p:txBody>
      </p:sp>
      <p:sp>
        <p:nvSpPr>
          <p:cNvPr id="8" name="Etiqueta Pieza_OK"/>
          <p:cNvSpPr/>
          <p:nvPr/>
        </p:nvSpPr>
        <p:spPr>
          <a:xfrm>
            <a:off x="5577840" y="3291840"/>
            <a:ext cx="1463040" cy="384048"/>
          </a:xfrm>
          <a:prstGeom prst="roundRect">
            <a:avLst>
              <a:gd name="adj" fmla="val 28571"/>
            </a:avLst>
          </a:prstGeom>
          <a:solidFill>
            <a:schemeClr val="bg2"/>
          </a:solidFill>
          <a:ln/>
        </p:spPr>
      </p:sp>
      <p:sp>
        <p:nvSpPr>
          <p:cNvPr id="9" name="Text 5"/>
          <p:cNvSpPr txBox="1"/>
          <p:nvPr/>
        </p:nvSpPr>
        <p:spPr>
          <a:xfrm>
            <a:off x="5577840" y="3291840"/>
            <a:ext cx="1463040" cy="384048"/>
          </a:xfrm>
          <a:prstGeom prst="rect">
            <a:avLst/>
          </a:prstGeom>
          <a:noFill/>
          <a:ln/>
        </p:spPr>
        <p:txBody>
          <a:bodyPr wrap="square" lIns="0" tIns="0" rIns="0" bIns="0" rtlCol="0" anchor="ctr"/>
          <a:lstStyle/>
          <a:p>
            <a:pPr marL="0" indent="0" algn="ctr">
              <a:buNone/>
            </a:pPr>
            <a:r>
              <a:rPr lang="en-US" sz="1400" b="1" dirty="0">
                <a:solidFill>
                  <a:schemeClr val="tx2"/>
                </a:solidFill>
              </a:rPr>
              <a:t>Pieza_OK</a:t>
            </a:r>
            <a:endParaRPr lang="en-US" sz="1400" dirty="0"/>
          </a:p>
        </p:txBody>
      </p:sp>
      <p:sp>
        <p:nvSpPr>
          <p:cNvPr id="10" name="Etiqueta Chatter"/>
          <p:cNvSpPr/>
          <p:nvPr/>
        </p:nvSpPr>
        <p:spPr>
          <a:xfrm>
            <a:off x="7178040" y="3291840"/>
            <a:ext cx="1463040" cy="384048"/>
          </a:xfrm>
          <a:prstGeom prst="roundRect">
            <a:avLst>
              <a:gd name="adj" fmla="val 28571"/>
            </a:avLst>
          </a:prstGeom>
          <a:solidFill>
            <a:schemeClr val="bg2"/>
          </a:solidFill>
          <a:ln/>
        </p:spPr>
      </p:sp>
      <p:sp>
        <p:nvSpPr>
          <p:cNvPr id="11" name="Text 7"/>
          <p:cNvSpPr txBox="1"/>
          <p:nvPr/>
        </p:nvSpPr>
        <p:spPr>
          <a:xfrm>
            <a:off x="7178040" y="3291840"/>
            <a:ext cx="1463040" cy="384048"/>
          </a:xfrm>
          <a:prstGeom prst="rect">
            <a:avLst/>
          </a:prstGeom>
          <a:noFill/>
          <a:ln/>
        </p:spPr>
        <p:txBody>
          <a:bodyPr wrap="square" lIns="0" tIns="0" rIns="0" bIns="0" rtlCol="0" anchor="ctr"/>
          <a:lstStyle/>
          <a:p>
            <a:pPr marL="0" indent="0" algn="ctr">
              <a:buNone/>
            </a:pPr>
            <a:r>
              <a:rPr lang="en-US" sz="1400" b="1" dirty="0">
                <a:solidFill>
                  <a:schemeClr val="tx2"/>
                </a:solidFill>
              </a:rPr>
              <a:t>Chatter</a:t>
            </a:r>
            <a:endParaRPr lang="en-US" sz="1400" dirty="0"/>
          </a:p>
        </p:txBody>
      </p:sp>
      <p:sp>
        <p:nvSpPr>
          <p:cNvPr id="12" name="Etiqueta Rayadura"/>
          <p:cNvSpPr/>
          <p:nvPr/>
        </p:nvSpPr>
        <p:spPr>
          <a:xfrm>
            <a:off x="5577840" y="3767328"/>
            <a:ext cx="1463040" cy="384048"/>
          </a:xfrm>
          <a:prstGeom prst="roundRect">
            <a:avLst>
              <a:gd name="adj" fmla="val 28571"/>
            </a:avLst>
          </a:prstGeom>
          <a:solidFill>
            <a:schemeClr val="bg2"/>
          </a:solidFill>
          <a:ln/>
        </p:spPr>
      </p:sp>
      <p:sp>
        <p:nvSpPr>
          <p:cNvPr id="13" name="Text 9"/>
          <p:cNvSpPr txBox="1"/>
          <p:nvPr/>
        </p:nvSpPr>
        <p:spPr>
          <a:xfrm>
            <a:off x="5577840" y="3767328"/>
            <a:ext cx="1463040" cy="384048"/>
          </a:xfrm>
          <a:prstGeom prst="rect">
            <a:avLst/>
          </a:prstGeom>
          <a:noFill/>
          <a:ln/>
        </p:spPr>
        <p:txBody>
          <a:bodyPr wrap="square" lIns="0" tIns="0" rIns="0" bIns="0" rtlCol="0" anchor="ctr"/>
          <a:lstStyle/>
          <a:p>
            <a:pPr marL="0" indent="0" algn="ctr">
              <a:buNone/>
            </a:pPr>
            <a:r>
              <a:rPr lang="en-US" sz="1400" b="1" dirty="0">
                <a:solidFill>
                  <a:schemeClr val="tx2"/>
                </a:solidFill>
              </a:rPr>
              <a:t>Rayadura</a:t>
            </a:r>
            <a:endParaRPr lang="en-US" sz="1400" dirty="0"/>
          </a:p>
        </p:txBody>
      </p:sp>
      <p:sp>
        <p:nvSpPr>
          <p:cNvPr id="14" name="Etiqueta Rebaba"/>
          <p:cNvSpPr/>
          <p:nvPr/>
        </p:nvSpPr>
        <p:spPr>
          <a:xfrm>
            <a:off x="7178040" y="3767328"/>
            <a:ext cx="1463040" cy="384048"/>
          </a:xfrm>
          <a:prstGeom prst="roundRect">
            <a:avLst>
              <a:gd name="adj" fmla="val 28571"/>
            </a:avLst>
          </a:prstGeom>
          <a:solidFill>
            <a:schemeClr val="bg2"/>
          </a:solidFill>
          <a:ln/>
        </p:spPr>
      </p:sp>
      <p:sp>
        <p:nvSpPr>
          <p:cNvPr id="15" name="Text 11"/>
          <p:cNvSpPr txBox="1"/>
          <p:nvPr/>
        </p:nvSpPr>
        <p:spPr>
          <a:xfrm>
            <a:off x="7178040" y="3767328"/>
            <a:ext cx="1463040" cy="384048"/>
          </a:xfrm>
          <a:prstGeom prst="rect">
            <a:avLst/>
          </a:prstGeom>
          <a:noFill/>
          <a:ln/>
        </p:spPr>
        <p:txBody>
          <a:bodyPr wrap="square" lIns="0" tIns="0" rIns="0" bIns="0" rtlCol="0" anchor="ctr"/>
          <a:lstStyle/>
          <a:p>
            <a:pPr marL="0" indent="0" algn="ctr">
              <a:buNone/>
            </a:pPr>
            <a:r>
              <a:rPr lang="en-US" sz="1400" b="1" dirty="0">
                <a:solidFill>
                  <a:schemeClr val="tx2"/>
                </a:solidFill>
              </a:rPr>
              <a:t>Rebaba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lIns="0" tIns="0" rIns="0" bIns="0" rtlCol="0" anchor="ctr"/>
          <a:lstStyle/>
          <a:p>
            <a:pPr marL="0" indent="0" algn="l">
              <a:buNone/>
            </a:pPr>
            <a:r>
              <a:rPr lang="en-US" sz="3600" b="1" dirty="0">
                <a:solidFill>
                  <a:schemeClr val="tx2"/>
                </a:solidFill>
              </a:rPr>
              <a:t>Entrenamiento del modelo</a:t>
            </a:r>
            <a:endParaRPr lang="en-US" sz="3600" dirty="0"/>
          </a:p>
        </p:txBody>
      </p:sp>
      <p:sp>
        <p:nvSpPr>
          <p:cNvPr id="3" name="Número 1"/>
          <p:cNvSpPr/>
          <p:nvPr/>
        </p:nvSpPr>
        <p:spPr>
          <a:xfrm>
            <a:off x="457200" y="1371600"/>
            <a:ext cx="502920" cy="502920"/>
          </a:xfrm>
          <a:prstGeom prst="ellipse">
            <a:avLst/>
          </a:prstGeom>
          <a:solidFill>
            <a:schemeClr val="tx2"/>
          </a:solidFill>
          <a:ln/>
        </p:spPr>
      </p:sp>
      <p:sp>
        <p:nvSpPr>
          <p:cNvPr id="4" name="Text 2"/>
          <p:cNvSpPr txBox="1"/>
          <p:nvPr/>
        </p:nvSpPr>
        <p:spPr>
          <a:xfrm>
            <a:off x="457200" y="13716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143000" y="1353312"/>
            <a:ext cx="2651760" cy="274320"/>
          </a:xfrm>
          <a:prstGeom prst="rect">
            <a:avLst/>
          </a:prstGeom>
          <a:noFill/>
          <a:ln/>
        </p:spPr>
        <p:txBody>
          <a:bodyPr wrap="square" lIns="0" tIns="0" rIns="0" bIns="0" rtlCol="0" anchor="t"/>
          <a:lstStyle/>
          <a:p>
            <a:pPr marL="0" indent="0">
              <a:buNone/>
            </a:pPr>
            <a:r>
              <a:rPr lang="en-US" sz="1600" b="1" dirty="0">
                <a:solidFill>
                  <a:schemeClr val="tx2"/>
                </a:solidFill>
              </a:rPr>
              <a:t>Carga de imágenes</a:t>
            </a:r>
            <a:endParaRPr lang="en-US" sz="1600" dirty="0"/>
          </a:p>
        </p:txBody>
      </p:sp>
      <p:sp>
        <p:nvSpPr>
          <p:cNvPr id="6" name="Text 4"/>
          <p:cNvSpPr txBox="1"/>
          <p:nvPr/>
        </p:nvSpPr>
        <p:spPr>
          <a:xfrm>
            <a:off x="1143000" y="1645920"/>
            <a:ext cx="2651760" cy="594360"/>
          </a:xfrm>
          <a:prstGeom prst="rect">
            <a:avLst/>
          </a:prstGeom>
          <a:noFill/>
          <a:ln/>
        </p:spPr>
        <p:txBody>
          <a:bodyPr wrap="square" lIns="0" tIns="0" rIns="0" bIns="0" rtlCol="0" anchor="t"/>
          <a:lstStyle/>
          <a:p>
            <a:pPr marL="0" indent="0">
              <a:buNone/>
            </a:pPr>
            <a:r>
              <a:rPr lang="en-US" sz="1400" dirty="0">
                <a:solidFill>
                  <a:schemeClr val="tx1"/>
                </a:solidFill>
              </a:rPr>
              <a:t>Cuatro clases con sus ejemplos.</a:t>
            </a:r>
            <a:endParaRPr lang="en-US" sz="1400" dirty="0"/>
          </a:p>
        </p:txBody>
      </p:sp>
      <p:sp>
        <p:nvSpPr>
          <p:cNvPr id="7" name="Número 2"/>
          <p:cNvSpPr/>
          <p:nvPr/>
        </p:nvSpPr>
        <p:spPr>
          <a:xfrm>
            <a:off x="457200" y="2423160"/>
            <a:ext cx="502920" cy="502920"/>
          </a:xfrm>
          <a:prstGeom prst="ellipse">
            <a:avLst/>
          </a:prstGeom>
          <a:solidFill>
            <a:schemeClr val="tx2"/>
          </a:solidFill>
          <a:ln/>
        </p:spPr>
      </p:sp>
      <p:sp>
        <p:nvSpPr>
          <p:cNvPr id="8" name="Text 6"/>
          <p:cNvSpPr txBox="1"/>
          <p:nvPr/>
        </p:nvSpPr>
        <p:spPr>
          <a:xfrm>
            <a:off x="457200" y="242316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 7"/>
          <p:cNvSpPr txBox="1"/>
          <p:nvPr/>
        </p:nvSpPr>
        <p:spPr>
          <a:xfrm>
            <a:off x="1143000" y="2404872"/>
            <a:ext cx="2651760" cy="274320"/>
          </a:xfrm>
          <a:prstGeom prst="rect">
            <a:avLst/>
          </a:prstGeom>
          <a:noFill/>
          <a:ln/>
        </p:spPr>
        <p:txBody>
          <a:bodyPr wrap="square" lIns="0" tIns="0" rIns="0" bIns="0" rtlCol="0" anchor="t"/>
          <a:lstStyle/>
          <a:p>
            <a:pPr marL="0" indent="0">
              <a:buNone/>
            </a:pPr>
            <a:r>
              <a:rPr lang="en-US" sz="1600" b="1" dirty="0">
                <a:solidFill>
                  <a:schemeClr val="tx2"/>
                </a:solidFill>
              </a:rPr>
              <a:t>Entrenamiento</a:t>
            </a:r>
            <a:endParaRPr lang="en-US" sz="1600" dirty="0"/>
          </a:p>
        </p:txBody>
      </p:sp>
      <p:sp>
        <p:nvSpPr>
          <p:cNvPr id="10" name="Text 8"/>
          <p:cNvSpPr txBox="1"/>
          <p:nvPr/>
        </p:nvSpPr>
        <p:spPr>
          <a:xfrm>
            <a:off x="1143000" y="2697480"/>
            <a:ext cx="2651760" cy="594360"/>
          </a:xfrm>
          <a:prstGeom prst="rect">
            <a:avLst/>
          </a:prstGeom>
          <a:noFill/>
          <a:ln/>
        </p:spPr>
        <p:txBody>
          <a:bodyPr wrap="square" lIns="0" tIns="0" rIns="0" bIns="0" rtlCol="0" anchor="t"/>
          <a:lstStyle/>
          <a:p>
            <a:pPr marL="0" indent="0">
              <a:buNone/>
            </a:pPr>
            <a:r>
              <a:rPr lang="en-US" sz="1400" dirty="0">
                <a:solidFill>
                  <a:schemeClr val="tx1"/>
                </a:solidFill>
              </a:rPr>
              <a:t>Plataforma web Teachable Machine.</a:t>
            </a:r>
            <a:endParaRPr lang="en-US" sz="1400" dirty="0"/>
          </a:p>
        </p:txBody>
      </p:sp>
      <p:sp>
        <p:nvSpPr>
          <p:cNvPr id="11" name="Número 3"/>
          <p:cNvSpPr/>
          <p:nvPr/>
        </p:nvSpPr>
        <p:spPr>
          <a:xfrm>
            <a:off x="457200" y="3474720"/>
            <a:ext cx="502920" cy="502920"/>
          </a:xfrm>
          <a:prstGeom prst="ellipse">
            <a:avLst/>
          </a:prstGeom>
          <a:solidFill>
            <a:schemeClr val="tx2"/>
          </a:solidFill>
          <a:ln/>
        </p:spPr>
      </p:sp>
      <p:sp>
        <p:nvSpPr>
          <p:cNvPr id="12" name="Text 10"/>
          <p:cNvSpPr txBox="1"/>
          <p:nvPr/>
        </p:nvSpPr>
        <p:spPr>
          <a:xfrm>
            <a:off x="457200" y="34747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ext 11"/>
          <p:cNvSpPr txBox="1"/>
          <p:nvPr/>
        </p:nvSpPr>
        <p:spPr>
          <a:xfrm>
            <a:off x="1143000" y="3456432"/>
            <a:ext cx="2651760" cy="274320"/>
          </a:xfrm>
          <a:prstGeom prst="rect">
            <a:avLst/>
          </a:prstGeom>
          <a:noFill/>
          <a:ln/>
        </p:spPr>
        <p:txBody>
          <a:bodyPr wrap="square" lIns="0" tIns="0" rIns="0" bIns="0" rtlCol="0" anchor="t"/>
          <a:lstStyle/>
          <a:p>
            <a:pPr marL="0" indent="0">
              <a:buNone/>
            </a:pPr>
            <a:r>
              <a:rPr lang="en-US" sz="1600" b="1" dirty="0">
                <a:solidFill>
                  <a:schemeClr val="tx2"/>
                </a:solidFill>
              </a:rPr>
              <a:t>Exportación</a:t>
            </a:r>
            <a:endParaRPr lang="en-US" sz="1600" dirty="0"/>
          </a:p>
        </p:txBody>
      </p:sp>
      <p:sp>
        <p:nvSpPr>
          <p:cNvPr id="14" name="Text 12"/>
          <p:cNvSpPr txBox="1"/>
          <p:nvPr/>
        </p:nvSpPr>
        <p:spPr>
          <a:xfrm>
            <a:off x="1143000" y="3749040"/>
            <a:ext cx="2651760" cy="594360"/>
          </a:xfrm>
          <a:prstGeom prst="rect">
            <a:avLst/>
          </a:prstGeom>
          <a:noFill/>
          <a:ln/>
        </p:spPr>
        <p:txBody>
          <a:bodyPr wrap="square" lIns="0" tIns="0" rIns="0" bIns="0" rtlCol="0" anchor="t"/>
          <a:lstStyle/>
          <a:p>
            <a:pPr marL="0" indent="0">
              <a:buNone/>
            </a:pPr>
            <a:r>
              <a:rPr lang="en-US" sz="1400" dirty="0">
                <a:solidFill>
                  <a:schemeClr val="tx1"/>
                </a:solidFill>
              </a:rPr>
              <a:t>keras_model.h5 y labels.txt para usar en Python.</a:t>
            </a:r>
            <a:endParaRPr lang="en-US" sz="1400" dirty="0"/>
          </a:p>
        </p:txBody>
      </p:sp>
      <p:pic>
        <p:nvPicPr>
          <p:cNvPr id="15" name="Teachable Machine" descr="Entrenamiento del modelo en Teachable Machine"/>
          <p:cNvPicPr>
            <a:picLocks noChangeAspect="1"/>
          </p:cNvPicPr>
          <p:nvPr/>
        </p:nvPicPr>
        <p:blipFill>
          <a:blip r:embed="rId3"/>
          <a:stretch>
            <a:fillRect/>
          </a:stretch>
        </p:blipFill>
        <p:spPr>
          <a:xfrm>
            <a:off x="4023360" y="1371600"/>
            <a:ext cx="4663440" cy="2784143"/>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lIns="0" tIns="0" rIns="0" bIns="0" rtlCol="0" anchor="ctr"/>
          <a:lstStyle/>
          <a:p>
            <a:pPr marL="0" indent="0" algn="l">
              <a:buNone/>
            </a:pPr>
            <a:r>
              <a:rPr lang="en-US" sz="3600" b="1" dirty="0">
                <a:solidFill>
                  <a:schemeClr val="tx2"/>
                </a:solidFill>
              </a:rPr>
              <a:t>Cómo clasifica QC Vision</a:t>
            </a:r>
            <a:endParaRPr lang="en-US" sz="3600" dirty="0"/>
          </a:p>
        </p:txBody>
      </p:sp>
      <p:sp>
        <p:nvSpPr>
          <p:cNvPr id="3" name="Etapa Cámara"/>
          <p:cNvSpPr/>
          <p:nvPr/>
        </p:nvSpPr>
        <p:spPr>
          <a:xfrm>
            <a:off x="457200" y="1325880"/>
            <a:ext cx="1737360" cy="1371600"/>
          </a:xfrm>
          <a:prstGeom prst="roundRect">
            <a:avLst>
              <a:gd name="adj" fmla="val 8000"/>
            </a:avLst>
          </a:prstGeom>
          <a:solidFill>
            <a:schemeClr val="bg2"/>
          </a:solidFill>
          <a:ln/>
          <a:effectLst>
            <a:outerShdw blurRad="76200" dist="25400" dir="5400000" algn="bl" rotWithShape="0">
              <a:srgbClr val="000000">
                <a:alpha val="12000"/>
              </a:srgbClr>
            </a:outerShdw>
          </a:effectLst>
        </p:spPr>
      </p:sp>
      <p:sp>
        <p:nvSpPr>
          <p:cNvPr id="4" name="Ícono Cámara (círculo)"/>
          <p:cNvSpPr/>
          <p:nvPr/>
        </p:nvSpPr>
        <p:spPr>
          <a:xfrm>
            <a:off x="1097280" y="1463040"/>
            <a:ext cx="457200" cy="457200"/>
          </a:xfrm>
          <a:prstGeom prst="ellipse">
            <a:avLst/>
          </a:prstGeom>
          <a:solidFill>
            <a:schemeClr val="tx2"/>
          </a:solidFill>
          <a:ln/>
        </p:spPr>
      </p:sp>
      <p:pic>
        <p:nvPicPr>
          <p:cNvPr id="5" name="Ícono Cámara" descr="Ícono Cámara"/>
          <p:cNvPicPr>
            <a:picLocks noChangeAspect="1"/>
          </p:cNvPicPr>
          <p:nvPr/>
        </p:nvPicPr>
        <p:blipFill>
          <a:blip r:embed="rId3"/>
          <a:stretch>
            <a:fillRect/>
          </a:stretch>
        </p:blipFill>
        <p:spPr>
          <a:xfrm>
            <a:off x="1216152" y="1581912"/>
            <a:ext cx="219456" cy="219456"/>
          </a:xfrm>
          <a:prstGeom prst="rect">
            <a:avLst/>
          </a:prstGeom>
        </p:spPr>
      </p:pic>
      <p:sp>
        <p:nvSpPr>
          <p:cNvPr id="6" name="Text 3"/>
          <p:cNvSpPr txBox="1"/>
          <p:nvPr/>
        </p:nvSpPr>
        <p:spPr>
          <a:xfrm>
            <a:off x="548640" y="2011680"/>
            <a:ext cx="1554480" cy="274320"/>
          </a:xfrm>
          <a:prstGeom prst="rect">
            <a:avLst/>
          </a:prstGeom>
          <a:noFill/>
          <a:ln/>
        </p:spPr>
        <p:txBody>
          <a:bodyPr wrap="square" lIns="0" tIns="0" rIns="0" bIns="0" rtlCol="0" anchor="t"/>
          <a:lstStyle/>
          <a:p>
            <a:pPr marL="0" indent="0" algn="ctr">
              <a:buNone/>
            </a:pPr>
            <a:r>
              <a:rPr lang="en-US" sz="1600" b="1" dirty="0">
                <a:solidFill>
                  <a:schemeClr val="tx2"/>
                </a:solidFill>
              </a:rPr>
              <a:t>Cámara</a:t>
            </a:r>
            <a:endParaRPr lang="en-US" sz="1600" dirty="0"/>
          </a:p>
        </p:txBody>
      </p:sp>
      <p:sp>
        <p:nvSpPr>
          <p:cNvPr id="7" name="Text 4"/>
          <p:cNvSpPr txBox="1"/>
          <p:nvPr/>
        </p:nvSpPr>
        <p:spPr>
          <a:xfrm>
            <a:off x="548640" y="2304288"/>
            <a:ext cx="1554480" cy="320040"/>
          </a:xfrm>
          <a:prstGeom prst="rect">
            <a:avLst/>
          </a:prstGeom>
          <a:noFill/>
          <a:ln/>
        </p:spPr>
        <p:txBody>
          <a:bodyPr wrap="square" lIns="0" tIns="0" rIns="0" bIns="0" rtlCol="0" anchor="t"/>
          <a:lstStyle/>
          <a:p>
            <a:pPr marL="0" indent="0" algn="ctr">
              <a:buNone/>
            </a:pPr>
            <a:r>
              <a:rPr lang="en-US" sz="1200" dirty="0">
                <a:solidFill>
                  <a:schemeClr val="accent4"/>
                </a:solidFill>
              </a:rPr>
              <a:t>Camo + OpenCV</a:t>
            </a:r>
            <a:endParaRPr lang="en-US" sz="1200" dirty="0"/>
          </a:p>
        </p:txBody>
      </p:sp>
      <p:sp>
        <p:nvSpPr>
          <p:cNvPr id="8" name="Flecha etapa 1"/>
          <p:cNvSpPr/>
          <p:nvPr/>
        </p:nvSpPr>
        <p:spPr>
          <a:xfrm>
            <a:off x="2240280" y="2011680"/>
            <a:ext cx="335310" cy="0"/>
          </a:xfrm>
          <a:prstGeom prst="line">
            <a:avLst/>
          </a:prstGeom>
          <a:noFill/>
          <a:ln w="19050">
            <a:solidFill>
              <a:schemeClr val="accent4"/>
            </a:solidFill>
            <a:prstDash val="solid"/>
            <a:tailEnd type="triangle"/>
          </a:ln>
        </p:spPr>
      </p:sp>
      <p:sp>
        <p:nvSpPr>
          <p:cNvPr id="9" name="Etapa Preprocesado"/>
          <p:cNvSpPr/>
          <p:nvPr/>
        </p:nvSpPr>
        <p:spPr>
          <a:xfrm>
            <a:off x="2621310" y="1325880"/>
            <a:ext cx="1737360" cy="1371600"/>
          </a:xfrm>
          <a:prstGeom prst="roundRect">
            <a:avLst>
              <a:gd name="adj" fmla="val 8000"/>
            </a:avLst>
          </a:prstGeom>
          <a:solidFill>
            <a:schemeClr val="bg2"/>
          </a:solidFill>
          <a:ln/>
          <a:effectLst>
            <a:outerShdw blurRad="76200" dist="25400" dir="5400000" algn="bl" rotWithShape="0">
              <a:srgbClr val="000000">
                <a:alpha val="12000"/>
              </a:srgbClr>
            </a:outerShdw>
          </a:effectLst>
        </p:spPr>
      </p:sp>
      <p:sp>
        <p:nvSpPr>
          <p:cNvPr id="10" name="Ícono Preprocesado (círculo)"/>
          <p:cNvSpPr/>
          <p:nvPr/>
        </p:nvSpPr>
        <p:spPr>
          <a:xfrm>
            <a:off x="3261390" y="1463040"/>
            <a:ext cx="457200" cy="457200"/>
          </a:xfrm>
          <a:prstGeom prst="ellipse">
            <a:avLst/>
          </a:prstGeom>
          <a:solidFill>
            <a:schemeClr val="tx2"/>
          </a:solidFill>
          <a:ln/>
        </p:spPr>
      </p:sp>
      <p:pic>
        <p:nvPicPr>
          <p:cNvPr id="11" name="Ícono Preprocesado" descr="Ícono Preprocesado"/>
          <p:cNvPicPr>
            <a:picLocks noChangeAspect="1"/>
          </p:cNvPicPr>
          <p:nvPr/>
        </p:nvPicPr>
        <p:blipFill>
          <a:blip r:embed="rId4"/>
          <a:stretch>
            <a:fillRect/>
          </a:stretch>
        </p:blipFill>
        <p:spPr>
          <a:xfrm>
            <a:off x="3380262" y="1581912"/>
            <a:ext cx="219456" cy="219456"/>
          </a:xfrm>
          <a:prstGeom prst="rect">
            <a:avLst/>
          </a:prstGeom>
        </p:spPr>
      </p:pic>
      <p:sp>
        <p:nvSpPr>
          <p:cNvPr id="12" name="Text 8"/>
          <p:cNvSpPr txBox="1"/>
          <p:nvPr/>
        </p:nvSpPr>
        <p:spPr>
          <a:xfrm>
            <a:off x="2712750" y="2011680"/>
            <a:ext cx="1554480" cy="274320"/>
          </a:xfrm>
          <a:prstGeom prst="rect">
            <a:avLst/>
          </a:prstGeom>
          <a:noFill/>
          <a:ln/>
        </p:spPr>
        <p:txBody>
          <a:bodyPr wrap="square" lIns="0" tIns="0" rIns="0" bIns="0" rtlCol="0" anchor="t"/>
          <a:lstStyle/>
          <a:p>
            <a:pPr marL="0" indent="0" algn="ctr">
              <a:buNone/>
            </a:pPr>
            <a:r>
              <a:rPr lang="en-US" sz="1600" b="1" dirty="0">
                <a:solidFill>
                  <a:schemeClr val="tx2"/>
                </a:solidFill>
              </a:rPr>
              <a:t>Preprocesado</a:t>
            </a:r>
            <a:endParaRPr lang="en-US" sz="1600" dirty="0"/>
          </a:p>
        </p:txBody>
      </p:sp>
      <p:sp>
        <p:nvSpPr>
          <p:cNvPr id="13" name="Text 9"/>
          <p:cNvSpPr txBox="1"/>
          <p:nvPr/>
        </p:nvSpPr>
        <p:spPr>
          <a:xfrm>
            <a:off x="2712750" y="2304288"/>
            <a:ext cx="1554480" cy="320040"/>
          </a:xfrm>
          <a:prstGeom prst="rect">
            <a:avLst/>
          </a:prstGeom>
          <a:noFill/>
          <a:ln/>
        </p:spPr>
        <p:txBody>
          <a:bodyPr wrap="square" lIns="0" tIns="0" rIns="0" bIns="0" rtlCol="0" anchor="t"/>
          <a:lstStyle/>
          <a:p>
            <a:pPr marL="0" indent="0" algn="ctr">
              <a:buNone/>
            </a:pPr>
            <a:r>
              <a:rPr lang="en-US" sz="1200" dirty="0">
                <a:solidFill>
                  <a:schemeClr val="accent4"/>
                </a:solidFill>
              </a:rPr>
              <a:t>224 × 224 · float32</a:t>
            </a:r>
            <a:endParaRPr lang="en-US" sz="1200" dirty="0"/>
          </a:p>
        </p:txBody>
      </p:sp>
      <p:sp>
        <p:nvSpPr>
          <p:cNvPr id="14" name="Flecha etapa 2"/>
          <p:cNvSpPr/>
          <p:nvPr/>
        </p:nvSpPr>
        <p:spPr>
          <a:xfrm>
            <a:off x="4404390" y="2011680"/>
            <a:ext cx="335310" cy="0"/>
          </a:xfrm>
          <a:prstGeom prst="line">
            <a:avLst/>
          </a:prstGeom>
          <a:noFill/>
          <a:ln w="19050">
            <a:solidFill>
              <a:schemeClr val="accent4"/>
            </a:solidFill>
            <a:prstDash val="solid"/>
            <a:tailEnd type="triangle"/>
          </a:ln>
        </p:spPr>
      </p:sp>
      <p:sp>
        <p:nvSpPr>
          <p:cNvPr id="15" name="Etapa Modelo"/>
          <p:cNvSpPr/>
          <p:nvPr/>
        </p:nvSpPr>
        <p:spPr>
          <a:xfrm>
            <a:off x="4785421" y="1325880"/>
            <a:ext cx="1737360" cy="1371600"/>
          </a:xfrm>
          <a:prstGeom prst="roundRect">
            <a:avLst>
              <a:gd name="adj" fmla="val 8000"/>
            </a:avLst>
          </a:prstGeom>
          <a:solidFill>
            <a:schemeClr val="bg2"/>
          </a:solidFill>
          <a:ln/>
          <a:effectLst>
            <a:outerShdw blurRad="76200" dist="25400" dir="5400000" algn="bl" rotWithShape="0">
              <a:srgbClr val="000000">
                <a:alpha val="12000"/>
              </a:srgbClr>
            </a:outerShdw>
          </a:effectLst>
        </p:spPr>
      </p:sp>
      <p:sp>
        <p:nvSpPr>
          <p:cNvPr id="16" name="Ícono Modelo (círculo)"/>
          <p:cNvSpPr/>
          <p:nvPr/>
        </p:nvSpPr>
        <p:spPr>
          <a:xfrm>
            <a:off x="5425501" y="1463040"/>
            <a:ext cx="457200" cy="457200"/>
          </a:xfrm>
          <a:prstGeom prst="ellipse">
            <a:avLst/>
          </a:prstGeom>
          <a:solidFill>
            <a:schemeClr val="tx2"/>
          </a:solidFill>
          <a:ln/>
        </p:spPr>
      </p:sp>
      <p:pic>
        <p:nvPicPr>
          <p:cNvPr id="17" name="Ícono Modelo" descr="Ícono Modelo"/>
          <p:cNvPicPr>
            <a:picLocks noChangeAspect="1"/>
          </p:cNvPicPr>
          <p:nvPr/>
        </p:nvPicPr>
        <p:blipFill>
          <a:blip r:embed="rId5"/>
          <a:stretch>
            <a:fillRect/>
          </a:stretch>
        </p:blipFill>
        <p:spPr>
          <a:xfrm>
            <a:off x="5544373" y="1581912"/>
            <a:ext cx="219456" cy="219456"/>
          </a:xfrm>
          <a:prstGeom prst="rect">
            <a:avLst/>
          </a:prstGeom>
        </p:spPr>
      </p:pic>
      <p:sp>
        <p:nvSpPr>
          <p:cNvPr id="18" name="Text 13"/>
          <p:cNvSpPr txBox="1"/>
          <p:nvPr/>
        </p:nvSpPr>
        <p:spPr>
          <a:xfrm>
            <a:off x="4876861" y="2011680"/>
            <a:ext cx="1554480" cy="274320"/>
          </a:xfrm>
          <a:prstGeom prst="rect">
            <a:avLst/>
          </a:prstGeom>
          <a:noFill/>
          <a:ln/>
        </p:spPr>
        <p:txBody>
          <a:bodyPr wrap="square" lIns="0" tIns="0" rIns="0" bIns="0" rtlCol="0" anchor="t"/>
          <a:lstStyle/>
          <a:p>
            <a:pPr marL="0" indent="0" algn="ctr">
              <a:buNone/>
            </a:pPr>
            <a:r>
              <a:rPr lang="en-US" sz="1600" b="1" dirty="0">
                <a:solidFill>
                  <a:schemeClr val="tx2"/>
                </a:solidFill>
              </a:rPr>
              <a:t>Modelo</a:t>
            </a:r>
            <a:endParaRPr lang="en-US" sz="1600" dirty="0"/>
          </a:p>
        </p:txBody>
      </p:sp>
      <p:sp>
        <p:nvSpPr>
          <p:cNvPr id="19" name="Text 14"/>
          <p:cNvSpPr txBox="1"/>
          <p:nvPr/>
        </p:nvSpPr>
        <p:spPr>
          <a:xfrm>
            <a:off x="4876861" y="2304288"/>
            <a:ext cx="1554480" cy="320040"/>
          </a:xfrm>
          <a:prstGeom prst="rect">
            <a:avLst/>
          </a:prstGeom>
          <a:noFill/>
          <a:ln/>
        </p:spPr>
        <p:txBody>
          <a:bodyPr wrap="square" lIns="0" tIns="0" rIns="0" bIns="0" rtlCol="0" anchor="t"/>
          <a:lstStyle/>
          <a:p>
            <a:pPr marL="0" indent="0" algn="ctr">
              <a:buNone/>
            </a:pPr>
            <a:r>
              <a:rPr lang="en-US" sz="1200" dirty="0">
                <a:solidFill>
                  <a:schemeClr val="accent4"/>
                </a:solidFill>
              </a:rPr>
              <a:t>TensorFlow / Keras</a:t>
            </a:r>
            <a:endParaRPr lang="en-US" sz="1200" dirty="0"/>
          </a:p>
        </p:txBody>
      </p:sp>
      <p:sp>
        <p:nvSpPr>
          <p:cNvPr id="20" name="Flecha etapa 3"/>
          <p:cNvSpPr/>
          <p:nvPr/>
        </p:nvSpPr>
        <p:spPr>
          <a:xfrm>
            <a:off x="6568501" y="2011680"/>
            <a:ext cx="335310" cy="0"/>
          </a:xfrm>
          <a:prstGeom prst="line">
            <a:avLst/>
          </a:prstGeom>
          <a:noFill/>
          <a:ln w="19050">
            <a:solidFill>
              <a:schemeClr val="accent4"/>
            </a:solidFill>
            <a:prstDash val="solid"/>
            <a:tailEnd type="triangle"/>
          </a:ln>
        </p:spPr>
      </p:sp>
      <p:sp>
        <p:nvSpPr>
          <p:cNvPr id="21" name="Etapa Resultado"/>
          <p:cNvSpPr/>
          <p:nvPr/>
        </p:nvSpPr>
        <p:spPr>
          <a:xfrm>
            <a:off x="6949531" y="1325880"/>
            <a:ext cx="1737360" cy="1371600"/>
          </a:xfrm>
          <a:prstGeom prst="roundRect">
            <a:avLst>
              <a:gd name="adj" fmla="val 8000"/>
            </a:avLst>
          </a:prstGeom>
          <a:solidFill>
            <a:schemeClr val="bg2"/>
          </a:solidFill>
          <a:ln/>
          <a:effectLst>
            <a:outerShdw blurRad="76200" dist="25400" dir="5400000" algn="bl" rotWithShape="0">
              <a:srgbClr val="000000">
                <a:alpha val="12000"/>
              </a:srgbClr>
            </a:outerShdw>
          </a:effectLst>
        </p:spPr>
      </p:sp>
      <p:sp>
        <p:nvSpPr>
          <p:cNvPr id="22" name="Ícono Resultado (círculo)"/>
          <p:cNvSpPr/>
          <p:nvPr/>
        </p:nvSpPr>
        <p:spPr>
          <a:xfrm>
            <a:off x="7589611" y="1463040"/>
            <a:ext cx="457200" cy="457200"/>
          </a:xfrm>
          <a:prstGeom prst="ellipse">
            <a:avLst/>
          </a:prstGeom>
          <a:solidFill>
            <a:schemeClr val="tx2"/>
          </a:solidFill>
          <a:ln/>
        </p:spPr>
      </p:sp>
      <p:pic>
        <p:nvPicPr>
          <p:cNvPr id="23" name="Ícono Resultado" descr="Ícono Resultado"/>
          <p:cNvPicPr>
            <a:picLocks noChangeAspect="1"/>
          </p:cNvPicPr>
          <p:nvPr/>
        </p:nvPicPr>
        <p:blipFill>
          <a:blip r:embed="rId6"/>
          <a:stretch>
            <a:fillRect/>
          </a:stretch>
        </p:blipFill>
        <p:spPr>
          <a:xfrm>
            <a:off x="7708483" y="1581912"/>
            <a:ext cx="219456" cy="219456"/>
          </a:xfrm>
          <a:prstGeom prst="rect">
            <a:avLst/>
          </a:prstGeom>
        </p:spPr>
      </p:pic>
      <p:sp>
        <p:nvSpPr>
          <p:cNvPr id="24" name="Text 18"/>
          <p:cNvSpPr txBox="1"/>
          <p:nvPr/>
        </p:nvSpPr>
        <p:spPr>
          <a:xfrm>
            <a:off x="7040971" y="2011680"/>
            <a:ext cx="1554480" cy="274320"/>
          </a:xfrm>
          <a:prstGeom prst="rect">
            <a:avLst/>
          </a:prstGeom>
          <a:noFill/>
          <a:ln/>
        </p:spPr>
        <p:txBody>
          <a:bodyPr wrap="square" lIns="0" tIns="0" rIns="0" bIns="0" rtlCol="0" anchor="t"/>
          <a:lstStyle/>
          <a:p>
            <a:pPr marL="0" indent="0" algn="ctr">
              <a:buNone/>
            </a:pPr>
            <a:r>
              <a:rPr lang="en-US" sz="1600" b="1" dirty="0">
                <a:solidFill>
                  <a:schemeClr val="tx2"/>
                </a:solidFill>
              </a:rPr>
              <a:t>Resultado</a:t>
            </a:r>
            <a:endParaRPr lang="en-US" sz="1600" dirty="0"/>
          </a:p>
        </p:txBody>
      </p:sp>
      <p:sp>
        <p:nvSpPr>
          <p:cNvPr id="25" name="Text 19"/>
          <p:cNvSpPr txBox="1"/>
          <p:nvPr/>
        </p:nvSpPr>
        <p:spPr>
          <a:xfrm>
            <a:off x="7040971" y="2304288"/>
            <a:ext cx="1554480" cy="320040"/>
          </a:xfrm>
          <a:prstGeom prst="rect">
            <a:avLst/>
          </a:prstGeom>
          <a:noFill/>
          <a:ln/>
        </p:spPr>
        <p:txBody>
          <a:bodyPr wrap="square" lIns="0" tIns="0" rIns="0" bIns="0" rtlCol="0" anchor="t"/>
          <a:lstStyle/>
          <a:p>
            <a:pPr marL="0" indent="0" algn="ctr">
              <a:buNone/>
            </a:pPr>
            <a:r>
              <a:rPr lang="en-US" sz="1200" dirty="0">
                <a:solidFill>
                  <a:schemeClr val="accent4"/>
                </a:solidFill>
              </a:rPr>
              <a:t>Clase + % de confianza</a:t>
            </a:r>
            <a:endParaRPr lang="en-US" sz="1200" dirty="0"/>
          </a:p>
        </p:txBody>
      </p:sp>
      <p:sp>
        <p:nvSpPr>
          <p:cNvPr id="26" name="Normalización"/>
          <p:cNvSpPr/>
          <p:nvPr/>
        </p:nvSpPr>
        <p:spPr>
          <a:xfrm>
            <a:off x="457200" y="2926080"/>
            <a:ext cx="4846320" cy="1554480"/>
          </a:xfrm>
          <a:prstGeom prst="roundRect">
            <a:avLst>
              <a:gd name="adj" fmla="val 7059"/>
            </a:avLst>
          </a:prstGeom>
          <a:solidFill>
            <a:schemeClr val="bg2"/>
          </a:solidFill>
          <a:ln/>
        </p:spPr>
      </p:sp>
      <p:sp>
        <p:nvSpPr>
          <p:cNvPr id="27" name="Text 21"/>
          <p:cNvSpPr txBox="1"/>
          <p:nvPr/>
        </p:nvSpPr>
        <p:spPr>
          <a:xfrm>
            <a:off x="685800" y="3063240"/>
            <a:ext cx="4389120" cy="274320"/>
          </a:xfrm>
          <a:prstGeom prst="rect">
            <a:avLst/>
          </a:prstGeom>
          <a:noFill/>
          <a:ln/>
        </p:spPr>
        <p:txBody>
          <a:bodyPr wrap="square" lIns="0" tIns="0" rIns="0" bIns="0" rtlCol="0" anchor="t"/>
          <a:lstStyle/>
          <a:p>
            <a:pPr marL="0" indent="0">
              <a:buNone/>
            </a:pPr>
            <a:r>
              <a:rPr lang="en-US" sz="1400" b="1" dirty="0">
                <a:solidFill>
                  <a:schemeClr val="accent4"/>
                </a:solidFill>
              </a:rPr>
              <a:t>Normalización de píxeles</a:t>
            </a:r>
            <a:endParaRPr lang="en-US" sz="1400" dirty="0"/>
          </a:p>
        </p:txBody>
      </p:sp>
      <p:sp>
        <p:nvSpPr>
          <p:cNvPr id="28" name="Text 22"/>
          <p:cNvSpPr txBox="1"/>
          <p:nvPr/>
        </p:nvSpPr>
        <p:spPr>
          <a:xfrm>
            <a:off x="685800" y="3383280"/>
            <a:ext cx="4389120" cy="685800"/>
          </a:xfrm>
          <a:prstGeom prst="rect">
            <a:avLst/>
          </a:prstGeom>
          <a:noFill/>
          <a:ln/>
        </p:spPr>
        <p:txBody>
          <a:bodyPr wrap="square" lIns="0" tIns="0" rIns="0" bIns="0" rtlCol="0" anchor="t"/>
          <a:lstStyle/>
          <a:p>
            <a:pPr marL="0" indent="0">
              <a:buNone/>
            </a:pPr>
            <a:r>
              <a:rPr lang="en-US" sz="2000" b="1" dirty="0">
                <a:solidFill>
                  <a:schemeClr val="tx2"/>
                </a:solidFill>
              </a:rPr>
              <a:t>Valor normalizado = Valor original / 127,5 − 1</a:t>
            </a:r>
            <a:endParaRPr lang="en-US" sz="2000" dirty="0"/>
          </a:p>
        </p:txBody>
      </p:sp>
      <p:sp>
        <p:nvSpPr>
          <p:cNvPr id="29" name="Text 23"/>
          <p:cNvSpPr txBox="1"/>
          <p:nvPr/>
        </p:nvSpPr>
        <p:spPr>
          <a:xfrm>
            <a:off x="685800" y="4114800"/>
            <a:ext cx="4389120" cy="274320"/>
          </a:xfrm>
          <a:prstGeom prst="rect">
            <a:avLst/>
          </a:prstGeom>
          <a:noFill/>
          <a:ln/>
        </p:spPr>
        <p:txBody>
          <a:bodyPr wrap="square" lIns="0" tIns="0" rIns="0" bIns="0" rtlCol="0" anchor="t"/>
          <a:lstStyle/>
          <a:p>
            <a:pPr marL="0" indent="0">
              <a:buNone/>
            </a:pPr>
            <a:r>
              <a:rPr lang="en-US" sz="1400" dirty="0">
                <a:solidFill>
                  <a:schemeClr val="tx1"/>
                </a:solidFill>
              </a:rPr>
              <a:t>BGR → RGB · lote de una imagen</a:t>
            </a:r>
            <a:endParaRPr lang="en-US" sz="1400" dirty="0"/>
          </a:p>
        </p:txBody>
      </p:sp>
      <p:sp>
        <p:nvSpPr>
          <p:cNvPr id="30" name="Confianza"/>
          <p:cNvSpPr/>
          <p:nvPr/>
        </p:nvSpPr>
        <p:spPr>
          <a:xfrm>
            <a:off x="5486400" y="2926080"/>
            <a:ext cx="3200400" cy="1554480"/>
          </a:xfrm>
          <a:prstGeom prst="roundRect">
            <a:avLst>
              <a:gd name="adj" fmla="val 7059"/>
            </a:avLst>
          </a:prstGeom>
          <a:solidFill>
            <a:schemeClr val="tx2"/>
          </a:solidFill>
          <a:ln/>
        </p:spPr>
      </p:sp>
      <p:sp>
        <p:nvSpPr>
          <p:cNvPr id="31" name="Text 25"/>
          <p:cNvSpPr txBox="1"/>
          <p:nvPr/>
        </p:nvSpPr>
        <p:spPr>
          <a:xfrm>
            <a:off x="5669280" y="3063240"/>
            <a:ext cx="2834640" cy="320040"/>
          </a:xfrm>
          <a:prstGeom prst="rect">
            <a:avLst/>
          </a:prstGeom>
          <a:noFill/>
          <a:ln/>
        </p:spPr>
        <p:txBody>
          <a:bodyPr wrap="square" lIns="0" tIns="0" rIns="0" bIns="0" rtlCol="0" anchor="t"/>
          <a:lstStyle/>
          <a:p>
            <a:pPr marL="0" indent="0">
              <a:buNone/>
            </a:pPr>
            <a:r>
              <a:rPr lang="en-US" sz="1600" b="1" dirty="0">
                <a:solidFill>
                  <a:schemeClr val="accent6"/>
                </a:solidFill>
              </a:rPr>
              <a:t>Salida × 100 = confianza</a:t>
            </a:r>
            <a:endParaRPr lang="en-US" sz="1600" dirty="0"/>
          </a:p>
        </p:txBody>
      </p:sp>
      <p:sp>
        <p:nvSpPr>
          <p:cNvPr id="32" name="Text 26"/>
          <p:cNvSpPr txBox="1"/>
          <p:nvPr/>
        </p:nvSpPr>
        <p:spPr>
          <a:xfrm>
            <a:off x="5669280" y="3474720"/>
            <a:ext cx="2834640" cy="914400"/>
          </a:xfrm>
          <a:prstGeom prst="rect">
            <a:avLst/>
          </a:prstGeom>
          <a:noFill/>
          <a:ln/>
        </p:spPr>
        <p:txBody>
          <a:bodyPr wrap="square" lIns="0" tIns="0" rIns="0" bIns="0" rtlCol="0" anchor="t"/>
          <a:lstStyle/>
          <a:p>
            <a:pPr marL="0" indent="0">
              <a:buNone/>
            </a:pPr>
            <a:r>
              <a:rPr lang="en-US" sz="1400" dirty="0">
                <a:solidFill>
                  <a:schemeClr val="bg1"/>
                </a:solidFill>
              </a:rPr>
              <a:t>Es la salida del modelo para esa imagen, no la exactitud global del sistema.</a:t>
            </a:r>
            <a:endParaRPr lang="en-US" sz="1400" dirty="0"/>
          </a:p>
        </p:txBody>
      </p:sp>
      <p:sp>
        <p:nvSpPr>
          <p:cNvPr id="3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lIns="0" tIns="0" rIns="0" bIns="0" rtlCol="0" anchor="ctr"/>
          <a:lstStyle/>
          <a:p>
            <a:pPr marL="0" indent="0" algn="l">
              <a:buNone/>
            </a:pPr>
            <a:r>
              <a:rPr lang="en-US" sz="3600" b="1" dirty="0">
                <a:solidFill>
                  <a:schemeClr val="tx2"/>
                </a:solidFill>
              </a:rPr>
              <a:t>Interfaz de QC Vision</a:t>
            </a:r>
            <a:endParaRPr lang="en-US" sz="3600" dirty="0"/>
          </a:p>
        </p:txBody>
      </p:sp>
      <p:pic>
        <p:nvPicPr>
          <p:cNvPr id="3" name="Interfaz" descr="Interfaz de QC Vision: cámara, resultado por clase e historial"/>
          <p:cNvPicPr>
            <a:picLocks noChangeAspect="1"/>
          </p:cNvPicPr>
          <p:nvPr/>
        </p:nvPicPr>
        <p:blipFill>
          <a:blip r:embed="rId3"/>
          <a:stretch>
            <a:fillRect/>
          </a:stretch>
        </p:blipFill>
        <p:spPr>
          <a:xfrm>
            <a:off x="457200" y="1325880"/>
            <a:ext cx="4846320" cy="3153719"/>
          </a:xfrm>
          <a:prstGeom prst="rect">
            <a:avLst/>
          </a:prstGeom>
        </p:spPr>
      </p:pic>
      <p:sp>
        <p:nvSpPr>
          <p:cNvPr id="4" name="Ícono Cámara en vivo (círculo)"/>
          <p:cNvSpPr/>
          <p:nvPr/>
        </p:nvSpPr>
        <p:spPr>
          <a:xfrm>
            <a:off x="5577840" y="1417320"/>
            <a:ext cx="457200" cy="457200"/>
          </a:xfrm>
          <a:prstGeom prst="ellipse">
            <a:avLst/>
          </a:prstGeom>
          <a:solidFill>
            <a:schemeClr val="tx2"/>
          </a:solidFill>
          <a:ln/>
        </p:spPr>
      </p:sp>
      <p:pic>
        <p:nvPicPr>
          <p:cNvPr id="5" name="Ícono Cámara en vivo" descr="Ícono Cámara en vivo"/>
          <p:cNvPicPr>
            <a:picLocks noChangeAspect="1"/>
          </p:cNvPicPr>
          <p:nvPr/>
        </p:nvPicPr>
        <p:blipFill>
          <a:blip r:embed="rId4"/>
          <a:stretch>
            <a:fillRect/>
          </a:stretch>
        </p:blipFill>
        <p:spPr>
          <a:xfrm>
            <a:off x="5696712" y="1536192"/>
            <a:ext cx="219456" cy="219456"/>
          </a:xfrm>
          <a:prstGeom prst="rect">
            <a:avLst/>
          </a:prstGeom>
        </p:spPr>
      </p:pic>
      <p:sp>
        <p:nvSpPr>
          <p:cNvPr id="6" name="Text 2"/>
          <p:cNvSpPr txBox="1"/>
          <p:nvPr/>
        </p:nvSpPr>
        <p:spPr>
          <a:xfrm>
            <a:off x="6217920" y="1325880"/>
            <a:ext cx="2468880" cy="256032"/>
          </a:xfrm>
          <a:prstGeom prst="rect">
            <a:avLst/>
          </a:prstGeom>
          <a:noFill/>
          <a:ln/>
        </p:spPr>
        <p:txBody>
          <a:bodyPr wrap="square" lIns="0" tIns="0" rIns="0" bIns="0" rtlCol="0" anchor="t"/>
          <a:lstStyle/>
          <a:p>
            <a:pPr marL="0" indent="0">
              <a:buNone/>
            </a:pPr>
            <a:r>
              <a:rPr lang="en-US" sz="1500" b="1" dirty="0">
                <a:solidFill>
                  <a:schemeClr val="tx2"/>
                </a:solidFill>
              </a:rPr>
              <a:t>Cámara en vivo</a:t>
            </a:r>
            <a:endParaRPr lang="en-US" sz="1500" dirty="0"/>
          </a:p>
        </p:txBody>
      </p:sp>
      <p:sp>
        <p:nvSpPr>
          <p:cNvPr id="7" name="Text 3"/>
          <p:cNvSpPr txBox="1"/>
          <p:nvPr/>
        </p:nvSpPr>
        <p:spPr>
          <a:xfrm>
            <a:off x="6217920" y="1600200"/>
            <a:ext cx="2468880" cy="457200"/>
          </a:xfrm>
          <a:prstGeom prst="rect">
            <a:avLst/>
          </a:prstGeom>
          <a:noFill/>
          <a:ln/>
        </p:spPr>
        <p:txBody>
          <a:bodyPr wrap="square" lIns="0" tIns="0" rIns="0" bIns="0" rtlCol="0" anchor="t"/>
          <a:lstStyle/>
          <a:p>
            <a:pPr marL="0" indent="0">
              <a:buNone/>
            </a:pPr>
            <a:r>
              <a:rPr lang="en-US" sz="1400" dirty="0">
                <a:solidFill>
                  <a:schemeClr val="tx1"/>
                </a:solidFill>
              </a:rPr>
              <a:t>iPhone como webcam con Camo.</a:t>
            </a:r>
            <a:endParaRPr lang="en-US" sz="1400" dirty="0"/>
          </a:p>
        </p:txBody>
      </p:sp>
      <p:sp>
        <p:nvSpPr>
          <p:cNvPr id="8" name="Ícono Analizar pieza (círculo)"/>
          <p:cNvSpPr/>
          <p:nvPr/>
        </p:nvSpPr>
        <p:spPr>
          <a:xfrm>
            <a:off x="5577840" y="2203704"/>
            <a:ext cx="457200" cy="457200"/>
          </a:xfrm>
          <a:prstGeom prst="ellipse">
            <a:avLst/>
          </a:prstGeom>
          <a:solidFill>
            <a:schemeClr val="tx2"/>
          </a:solidFill>
          <a:ln/>
        </p:spPr>
      </p:sp>
      <p:pic>
        <p:nvPicPr>
          <p:cNvPr id="9" name="Ícono Analizar pieza" descr="Ícono Analizar pieza"/>
          <p:cNvPicPr>
            <a:picLocks noChangeAspect="1"/>
          </p:cNvPicPr>
          <p:nvPr/>
        </p:nvPicPr>
        <p:blipFill>
          <a:blip r:embed="rId5"/>
          <a:stretch>
            <a:fillRect/>
          </a:stretch>
        </p:blipFill>
        <p:spPr>
          <a:xfrm>
            <a:off x="5696712" y="2322576"/>
            <a:ext cx="219456" cy="219456"/>
          </a:xfrm>
          <a:prstGeom prst="rect">
            <a:avLst/>
          </a:prstGeom>
        </p:spPr>
      </p:pic>
      <p:sp>
        <p:nvSpPr>
          <p:cNvPr id="10" name="Text 5"/>
          <p:cNvSpPr txBox="1"/>
          <p:nvPr/>
        </p:nvSpPr>
        <p:spPr>
          <a:xfrm>
            <a:off x="6217920" y="2112264"/>
            <a:ext cx="2468880" cy="256032"/>
          </a:xfrm>
          <a:prstGeom prst="rect">
            <a:avLst/>
          </a:prstGeom>
          <a:noFill/>
          <a:ln/>
        </p:spPr>
        <p:txBody>
          <a:bodyPr wrap="square" lIns="0" tIns="0" rIns="0" bIns="0" rtlCol="0" anchor="t"/>
          <a:lstStyle/>
          <a:p>
            <a:pPr marL="0" indent="0">
              <a:buNone/>
            </a:pPr>
            <a:r>
              <a:rPr lang="en-US" sz="1500" b="1" dirty="0">
                <a:solidFill>
                  <a:schemeClr val="tx2"/>
                </a:solidFill>
              </a:rPr>
              <a:t>Analizar pieza</a:t>
            </a:r>
            <a:endParaRPr lang="en-US" sz="1500" dirty="0"/>
          </a:p>
        </p:txBody>
      </p:sp>
      <p:sp>
        <p:nvSpPr>
          <p:cNvPr id="11" name="Text 6"/>
          <p:cNvSpPr txBox="1"/>
          <p:nvPr/>
        </p:nvSpPr>
        <p:spPr>
          <a:xfrm>
            <a:off x="6217920" y="2386584"/>
            <a:ext cx="2468880" cy="457200"/>
          </a:xfrm>
          <a:prstGeom prst="rect">
            <a:avLst/>
          </a:prstGeom>
          <a:noFill/>
          <a:ln/>
        </p:spPr>
        <p:txBody>
          <a:bodyPr wrap="square" lIns="0" tIns="0" rIns="0" bIns="0" rtlCol="0" anchor="t"/>
          <a:lstStyle/>
          <a:p>
            <a:pPr marL="0" indent="0">
              <a:buNone/>
            </a:pPr>
            <a:r>
              <a:rPr lang="en-US" sz="1400" dirty="0">
                <a:solidFill>
                  <a:schemeClr val="tx1"/>
                </a:solidFill>
              </a:rPr>
              <a:t>Con el botón o la tecla Espacio.</a:t>
            </a:r>
            <a:endParaRPr lang="en-US" sz="1400" dirty="0"/>
          </a:p>
        </p:txBody>
      </p:sp>
      <p:sp>
        <p:nvSpPr>
          <p:cNvPr id="12" name="Ícono Resultado por clase (círculo)"/>
          <p:cNvSpPr/>
          <p:nvPr/>
        </p:nvSpPr>
        <p:spPr>
          <a:xfrm>
            <a:off x="5577840" y="2990088"/>
            <a:ext cx="457200" cy="457200"/>
          </a:xfrm>
          <a:prstGeom prst="ellipse">
            <a:avLst/>
          </a:prstGeom>
          <a:solidFill>
            <a:schemeClr val="tx2"/>
          </a:solidFill>
          <a:ln/>
        </p:spPr>
      </p:sp>
      <p:pic>
        <p:nvPicPr>
          <p:cNvPr id="13" name="Ícono Resultado por clase" descr="Ícono Resultado por clase"/>
          <p:cNvPicPr>
            <a:picLocks noChangeAspect="1"/>
          </p:cNvPicPr>
          <p:nvPr/>
        </p:nvPicPr>
        <p:blipFill>
          <a:blip r:embed="rId6"/>
          <a:stretch>
            <a:fillRect/>
          </a:stretch>
        </p:blipFill>
        <p:spPr>
          <a:xfrm>
            <a:off x="5696712" y="3108960"/>
            <a:ext cx="219456" cy="219456"/>
          </a:xfrm>
          <a:prstGeom prst="rect">
            <a:avLst/>
          </a:prstGeom>
        </p:spPr>
      </p:pic>
      <p:sp>
        <p:nvSpPr>
          <p:cNvPr id="14" name="Text 8"/>
          <p:cNvSpPr txBox="1"/>
          <p:nvPr/>
        </p:nvSpPr>
        <p:spPr>
          <a:xfrm>
            <a:off x="6217920" y="2898648"/>
            <a:ext cx="2468880" cy="256032"/>
          </a:xfrm>
          <a:prstGeom prst="rect">
            <a:avLst/>
          </a:prstGeom>
          <a:noFill/>
          <a:ln/>
        </p:spPr>
        <p:txBody>
          <a:bodyPr wrap="square" lIns="0" tIns="0" rIns="0" bIns="0" rtlCol="0" anchor="t"/>
          <a:lstStyle/>
          <a:p>
            <a:pPr marL="0" indent="0">
              <a:buNone/>
            </a:pPr>
            <a:r>
              <a:rPr lang="en-US" sz="1500" b="1" dirty="0">
                <a:solidFill>
                  <a:schemeClr val="tx2"/>
                </a:solidFill>
              </a:rPr>
              <a:t>Resultado por clase</a:t>
            </a:r>
            <a:endParaRPr lang="en-US" sz="1500" dirty="0"/>
          </a:p>
        </p:txBody>
      </p:sp>
      <p:sp>
        <p:nvSpPr>
          <p:cNvPr id="15" name="Text 9"/>
          <p:cNvSpPr txBox="1"/>
          <p:nvPr/>
        </p:nvSpPr>
        <p:spPr>
          <a:xfrm>
            <a:off x="6217920" y="3172968"/>
            <a:ext cx="2468880" cy="457200"/>
          </a:xfrm>
          <a:prstGeom prst="rect">
            <a:avLst/>
          </a:prstGeom>
          <a:noFill/>
          <a:ln/>
        </p:spPr>
        <p:txBody>
          <a:bodyPr wrap="square" lIns="0" tIns="0" rIns="0" bIns="0" rtlCol="0" anchor="t"/>
          <a:lstStyle/>
          <a:p>
            <a:pPr marL="0" indent="0">
              <a:buNone/>
            </a:pPr>
            <a:r>
              <a:rPr lang="en-US" sz="1400" dirty="0">
                <a:solidFill>
                  <a:schemeClr val="tx1"/>
                </a:solidFill>
              </a:rPr>
              <a:t>Clase predicha y % de cada clase.</a:t>
            </a:r>
            <a:endParaRPr lang="en-US" sz="1400" dirty="0"/>
          </a:p>
        </p:txBody>
      </p:sp>
      <p:sp>
        <p:nvSpPr>
          <p:cNvPr id="16" name="Ícono Historial (círculo)"/>
          <p:cNvSpPr/>
          <p:nvPr/>
        </p:nvSpPr>
        <p:spPr>
          <a:xfrm>
            <a:off x="5577840" y="3776472"/>
            <a:ext cx="457200" cy="457200"/>
          </a:xfrm>
          <a:prstGeom prst="ellipse">
            <a:avLst/>
          </a:prstGeom>
          <a:solidFill>
            <a:schemeClr val="tx2"/>
          </a:solidFill>
          <a:ln/>
        </p:spPr>
      </p:sp>
      <p:pic>
        <p:nvPicPr>
          <p:cNvPr id="17" name="Ícono Historial" descr="Ícono Historial"/>
          <p:cNvPicPr>
            <a:picLocks noChangeAspect="1"/>
          </p:cNvPicPr>
          <p:nvPr/>
        </p:nvPicPr>
        <p:blipFill>
          <a:blip r:embed="rId7"/>
          <a:stretch>
            <a:fillRect/>
          </a:stretch>
        </p:blipFill>
        <p:spPr>
          <a:xfrm>
            <a:off x="5696712" y="3895344"/>
            <a:ext cx="219456" cy="219456"/>
          </a:xfrm>
          <a:prstGeom prst="rect">
            <a:avLst/>
          </a:prstGeom>
        </p:spPr>
      </p:pic>
      <p:sp>
        <p:nvSpPr>
          <p:cNvPr id="18" name="Text 11"/>
          <p:cNvSpPr txBox="1"/>
          <p:nvPr/>
        </p:nvSpPr>
        <p:spPr>
          <a:xfrm>
            <a:off x="6217920" y="3685032"/>
            <a:ext cx="2468880" cy="256032"/>
          </a:xfrm>
          <a:prstGeom prst="rect">
            <a:avLst/>
          </a:prstGeom>
          <a:noFill/>
          <a:ln/>
        </p:spPr>
        <p:txBody>
          <a:bodyPr wrap="square" lIns="0" tIns="0" rIns="0" bIns="0" rtlCol="0" anchor="t"/>
          <a:lstStyle/>
          <a:p>
            <a:pPr marL="0" indent="0">
              <a:buNone/>
            </a:pPr>
            <a:r>
              <a:rPr lang="en-US" sz="1500" b="1" dirty="0">
                <a:solidFill>
                  <a:schemeClr val="tx2"/>
                </a:solidFill>
              </a:rPr>
              <a:t>Historial</a:t>
            </a:r>
            <a:endParaRPr lang="en-US" sz="1500" dirty="0"/>
          </a:p>
        </p:txBody>
      </p:sp>
      <p:sp>
        <p:nvSpPr>
          <p:cNvPr id="19" name="Text 12"/>
          <p:cNvSpPr txBox="1"/>
          <p:nvPr/>
        </p:nvSpPr>
        <p:spPr>
          <a:xfrm>
            <a:off x="6217920" y="3959352"/>
            <a:ext cx="2468880" cy="457200"/>
          </a:xfrm>
          <a:prstGeom prst="rect">
            <a:avLst/>
          </a:prstGeom>
          <a:noFill/>
          <a:ln/>
        </p:spPr>
        <p:txBody>
          <a:bodyPr wrap="square" lIns="0" tIns="0" rIns="0" bIns="0" rtlCol="0" anchor="t"/>
          <a:lstStyle/>
          <a:p>
            <a:pPr marL="0" indent="0">
              <a:buNone/>
            </a:pPr>
            <a:r>
              <a:rPr lang="en-US" sz="1400" dirty="0">
                <a:solidFill>
                  <a:schemeClr val="tx1"/>
                </a:solidFill>
              </a:rPr>
              <a:t>Hasta 100 inspecciones por sesión.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lIns="0" tIns="0" rIns="0" bIns="0" rtlCol="0" anchor="ctr"/>
          <a:lstStyle/>
          <a:p>
            <a:pPr marL="0" indent="0" algn="l">
              <a:buNone/>
            </a:pPr>
            <a:r>
              <a:rPr lang="en-US" sz="3600" b="1" dirty="0">
                <a:solidFill>
                  <a:schemeClr val="tx2"/>
                </a:solidFill>
              </a:rPr>
              <a:t>Pruebas del sistema</a:t>
            </a:r>
            <a:endParaRPr lang="en-US" sz="3600" dirty="0"/>
          </a:p>
        </p:txBody>
      </p:sp>
      <p:pic>
        <p:nvPicPr>
          <p:cNvPr id="3" name="Piezas de prueba" descr="Piezas mecanizadas usadas en las pruebas"/>
          <p:cNvPicPr>
            <a:picLocks noChangeAspect="1"/>
          </p:cNvPicPr>
          <p:nvPr/>
        </p:nvPicPr>
        <p:blipFill>
          <a:blip r:embed="rId3"/>
          <a:stretch>
            <a:fillRect/>
          </a:stretch>
        </p:blipFill>
        <p:spPr>
          <a:xfrm>
            <a:off x="457200" y="1325880"/>
            <a:ext cx="5120640" cy="2387801"/>
          </a:xfrm>
          <a:prstGeom prst="rect">
            <a:avLst/>
          </a:prstGeom>
        </p:spPr>
      </p:pic>
      <p:sp>
        <p:nvSpPr>
          <p:cNvPr id="4" name="Método de prueba"/>
          <p:cNvSpPr/>
          <p:nvPr/>
        </p:nvSpPr>
        <p:spPr>
          <a:xfrm>
            <a:off x="457200" y="3931920"/>
            <a:ext cx="5120640" cy="548640"/>
          </a:xfrm>
          <a:prstGeom prst="roundRect">
            <a:avLst>
              <a:gd name="adj" fmla="val 20000"/>
            </a:avLst>
          </a:prstGeom>
          <a:solidFill>
            <a:schemeClr val="bg2"/>
          </a:solidFill>
          <a:ln/>
        </p:spPr>
      </p:sp>
      <p:sp>
        <p:nvSpPr>
          <p:cNvPr id="5" name="Text 2"/>
          <p:cNvSpPr txBox="1"/>
          <p:nvPr/>
        </p:nvSpPr>
        <p:spPr>
          <a:xfrm>
            <a:off x="640080" y="3931920"/>
            <a:ext cx="4754880" cy="548640"/>
          </a:xfrm>
          <a:prstGeom prst="rect">
            <a:avLst/>
          </a:prstGeom>
          <a:noFill/>
          <a:ln/>
        </p:spPr>
        <p:txBody>
          <a:bodyPr wrap="square" lIns="0" tIns="0" rIns="0" bIns="0" rtlCol="0" anchor="ctr"/>
          <a:lstStyle/>
          <a:p>
            <a:pPr marL="0" indent="0">
              <a:buNone/>
            </a:pPr>
            <a:r>
              <a:rPr lang="en-US" sz="1400" b="1" dirty="0">
                <a:solidFill>
                  <a:schemeClr val="tx2"/>
                </a:solidFill>
              </a:rPr>
              <a:t>Para cada pieza: categoría real vs. predicción de QC Vision.</a:t>
            </a:r>
            <a:endParaRPr lang="en-US" sz="1400" dirty="0"/>
          </a:p>
        </p:txBody>
      </p:sp>
      <p:sp>
        <p:nvSpPr>
          <p:cNvPr id="6" name="Text 3"/>
          <p:cNvSpPr txBox="1"/>
          <p:nvPr/>
        </p:nvSpPr>
        <p:spPr>
          <a:xfrm>
            <a:off x="5943600" y="1280160"/>
            <a:ext cx="2743200" cy="1005840"/>
          </a:xfrm>
          <a:prstGeom prst="rect">
            <a:avLst/>
          </a:prstGeom>
          <a:noFill/>
          <a:ln/>
        </p:spPr>
        <p:txBody>
          <a:bodyPr wrap="square" lIns="0" tIns="0" rIns="0" bIns="0" rtlCol="0" anchor="t"/>
          <a:lstStyle/>
          <a:p>
            <a:pPr marL="0" indent="0">
              <a:buNone/>
            </a:pPr>
            <a:r>
              <a:rPr lang="en-US" sz="6600" b="1" dirty="0">
                <a:solidFill>
                  <a:schemeClr val="accent1"/>
                </a:solidFill>
              </a:rPr>
              <a:t>9</a:t>
            </a:r>
            <a:endParaRPr lang="en-US" sz="6600" dirty="0"/>
          </a:p>
        </p:txBody>
      </p:sp>
      <p:sp>
        <p:nvSpPr>
          <p:cNvPr id="7" name="Text 4"/>
          <p:cNvSpPr txBox="1"/>
          <p:nvPr/>
        </p:nvSpPr>
        <p:spPr>
          <a:xfrm>
            <a:off x="5943600" y="2331720"/>
            <a:ext cx="2743200" cy="320040"/>
          </a:xfrm>
          <a:prstGeom prst="rect">
            <a:avLst/>
          </a:prstGeom>
          <a:noFill/>
          <a:ln/>
        </p:spPr>
        <p:txBody>
          <a:bodyPr wrap="square" lIns="0" tIns="0" rIns="0" bIns="0" rtlCol="0" anchor="t"/>
          <a:lstStyle/>
          <a:p>
            <a:pPr marL="0" indent="0">
              <a:buNone/>
            </a:pPr>
            <a:r>
              <a:rPr lang="en-US" sz="1800" b="1" dirty="0">
                <a:solidFill>
                  <a:schemeClr val="tx2"/>
                </a:solidFill>
              </a:rPr>
              <a:t>piezas de prueba</a:t>
            </a:r>
            <a:endParaRPr lang="en-US" sz="1800" dirty="0"/>
          </a:p>
        </p:txBody>
      </p:sp>
      <p:sp>
        <p:nvSpPr>
          <p:cNvPr id="8" name="Text 5"/>
          <p:cNvSpPr txBox="1"/>
          <p:nvPr/>
        </p:nvSpPr>
        <p:spPr>
          <a:xfrm>
            <a:off x="5943600" y="2788920"/>
            <a:ext cx="2743200" cy="1280160"/>
          </a:xfrm>
          <a:prstGeom prst="rect">
            <a:avLst/>
          </a:prstGeom>
          <a:noFill/>
          <a:ln/>
        </p:spPr>
        <p:txBody>
          <a:bodyPr wrap="square" lIns="0" tIns="0" rIns="0" bIns="0" rtlCol="0" anchor="t"/>
          <a:lstStyle/>
          <a:p>
            <a:pPr marL="0" indent="0">
              <a:buNone/>
            </a:pPr>
            <a:r>
              <a:rPr lang="en-US" sz="1400" dirty="0">
                <a:solidFill>
                  <a:schemeClr val="tx1"/>
                </a:solidFill>
              </a:rPr>
              <a:t>Distintas a las del entrenamiento: aceptables y con defectos, presentadas ante la cámara.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lIns="0" tIns="0" rIns="0" bIns="0" rtlCol="0" anchor="ctr"/>
          <a:lstStyle/>
          <a:p>
            <a:pPr marL="0" indent="0" algn="l">
              <a:buNone/>
            </a:pPr>
            <a:r>
              <a:rPr lang="en-US" sz="3600" b="1" dirty="0">
                <a:solidFill>
                  <a:schemeClr val="tx2"/>
                </a:solidFill>
              </a:rPr>
              <a:t>Resultados</a:t>
            </a:r>
            <a:endParaRPr lang="en-US" sz="3600" dirty="0"/>
          </a:p>
        </p:txBody>
      </p:sp>
      <p:sp>
        <p:nvSpPr>
          <p:cNvPr id="3" name="Text 1"/>
          <p:cNvSpPr txBox="1"/>
          <p:nvPr/>
        </p:nvSpPr>
        <p:spPr>
          <a:xfrm>
            <a:off x="457200" y="1234440"/>
            <a:ext cx="3474720" cy="914400"/>
          </a:xfrm>
          <a:prstGeom prst="rect">
            <a:avLst/>
          </a:prstGeom>
          <a:noFill/>
          <a:ln/>
        </p:spPr>
        <p:txBody>
          <a:bodyPr wrap="square" lIns="0" tIns="0" rIns="0" bIns="0" rtlCol="0" anchor="t"/>
          <a:lstStyle/>
          <a:p>
            <a:pPr marL="0" indent="0">
              <a:buNone/>
            </a:pPr>
            <a:r>
              <a:rPr lang="en-US" sz="5400" b="1" dirty="0">
                <a:solidFill>
                  <a:schemeClr val="accent1"/>
                </a:solidFill>
              </a:rPr>
              <a:t>88,89 %</a:t>
            </a:r>
            <a:endParaRPr lang="en-US" sz="5400" dirty="0"/>
          </a:p>
        </p:txBody>
      </p:sp>
      <p:sp>
        <p:nvSpPr>
          <p:cNvPr id="4" name="Text 2"/>
          <p:cNvSpPr txBox="1"/>
          <p:nvPr/>
        </p:nvSpPr>
        <p:spPr>
          <a:xfrm>
            <a:off x="457200" y="2148840"/>
            <a:ext cx="3474720" cy="320040"/>
          </a:xfrm>
          <a:prstGeom prst="rect">
            <a:avLst/>
          </a:prstGeom>
          <a:noFill/>
          <a:ln/>
        </p:spPr>
        <p:txBody>
          <a:bodyPr wrap="square" lIns="0" tIns="0" rIns="0" bIns="0" rtlCol="0" anchor="t"/>
          <a:lstStyle/>
          <a:p>
            <a:pPr marL="0" indent="0">
              <a:buNone/>
            </a:pPr>
            <a:r>
              <a:rPr lang="en-US" sz="1800" b="1" dirty="0">
                <a:solidFill>
                  <a:schemeClr val="tx2"/>
                </a:solidFill>
              </a:rPr>
              <a:t>exactitud observada</a:t>
            </a:r>
            <a:endParaRPr lang="en-US" sz="1800" dirty="0"/>
          </a:p>
        </p:txBody>
      </p:sp>
      <p:sp>
        <p:nvSpPr>
          <p:cNvPr id="5" name="Text 3"/>
          <p:cNvSpPr txBox="1"/>
          <p:nvPr/>
        </p:nvSpPr>
        <p:spPr>
          <a:xfrm>
            <a:off x="457200" y="2487168"/>
            <a:ext cx="3474720" cy="320040"/>
          </a:xfrm>
          <a:prstGeom prst="rect">
            <a:avLst/>
          </a:prstGeom>
          <a:noFill/>
          <a:ln/>
        </p:spPr>
        <p:txBody>
          <a:bodyPr wrap="square" lIns="0" tIns="0" rIns="0" bIns="0" rtlCol="0" anchor="t"/>
          <a:lstStyle/>
          <a:p>
            <a:pPr marL="0" indent="0">
              <a:buNone/>
            </a:pPr>
            <a:r>
              <a:rPr lang="en-US" sz="1400" dirty="0">
                <a:solidFill>
                  <a:schemeClr val="tx1"/>
                </a:solidFill>
              </a:rPr>
              <a:t>8 aciertos en 9 piezas</a:t>
            </a:r>
            <a:endParaRPr lang="en-US" sz="1400" dirty="0"/>
          </a:p>
        </p:txBody>
      </p:sp>
      <p:sp>
        <p:nvSpPr>
          <p:cNvPr id="6" name="Aclaración"/>
          <p:cNvSpPr/>
          <p:nvPr/>
        </p:nvSpPr>
        <p:spPr>
          <a:xfrm>
            <a:off x="457200" y="3017520"/>
            <a:ext cx="3474720" cy="1417320"/>
          </a:xfrm>
          <a:prstGeom prst="roundRect">
            <a:avLst>
              <a:gd name="adj" fmla="val 7742"/>
            </a:avLst>
          </a:prstGeom>
          <a:solidFill>
            <a:schemeClr val="bg2"/>
          </a:solidFill>
          <a:ln/>
        </p:spPr>
      </p:sp>
      <p:sp>
        <p:nvSpPr>
          <p:cNvPr id="7" name="Text 5"/>
          <p:cNvSpPr txBox="1"/>
          <p:nvPr/>
        </p:nvSpPr>
        <p:spPr>
          <a:xfrm>
            <a:off x="640080" y="3108960"/>
            <a:ext cx="3108960" cy="1234440"/>
          </a:xfrm>
          <a:prstGeom prst="rect">
            <a:avLst/>
          </a:prstGeom>
          <a:noFill/>
          <a:ln/>
        </p:spPr>
        <p:txBody>
          <a:bodyPr wrap="square" lIns="0" tIns="0" rIns="0" bIns="0" rtlCol="0" anchor="ctr"/>
          <a:lstStyle/>
          <a:p>
            <a:pPr marL="0" indent="0">
              <a:buNone/>
            </a:pPr>
            <a:r>
              <a:rPr lang="en-US" sz="1400" dirty="0">
                <a:solidFill>
                  <a:schemeClr val="tx1"/>
                </a:solidFill>
              </a:rPr>
              <a:t>Único error: P1 (rebaba clasificada como rayadura). Con solo 9 piezas, no es una medida definitiva de generalización.</a:t>
            </a:r>
            <a:endParaRPr lang="en-US" sz="1400" dirty="0"/>
          </a:p>
        </p:txBody>
      </p:sp>
      <p:graphicFrame>
        <p:nvGraphicFramePr>
          <p:cNvPr id="12" name="Tabla de resultados"/>
          <p:cNvGraphicFramePr>
            <a:graphicFrameLocks noGrp="1"/>
          </p:cNvGraphicFramePr>
          <p:nvPr>
            <p:extLst>
              <p:ext uri="{D42A27DB-BD31-4B8C-83A1-F6EECF244321}">
                <p14:modId xmlns:p14="http://schemas.microsoft.com/office/powerpoint/2010/main" val="1579011935"/>
              </p:ext>
            </p:extLst>
          </p:nvPr>
        </p:nvGraphicFramePr>
        <p:xfrm>
          <a:off x="4206240" y="1325880"/>
          <a:ext cx="4480560" cy="3108960"/>
        </p:xfrm>
        <a:graphic>
          <a:graphicData uri="http://schemas.openxmlformats.org/drawingml/2006/table">
            <a:tbl>
              <a:tblPr/>
              <a:tblGrid>
                <a:gridCol w="7315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310896">
                <a:tc>
                  <a:txBody>
                    <a:bodyPr/>
                    <a:lstStyle/>
                    <a:p>
                      <a:pPr marL="0" indent="0" algn="l">
                        <a:buNone/>
                      </a:pPr>
                      <a:r>
                        <a:rPr lang="en-US" sz="1200" b="1" dirty="0">
                          <a:solidFill>
                            <a:srgbClr val="FFFFFF"/>
                          </a:solidFill>
                        </a:rPr>
                        <a:t>Pieza</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173F2B"/>
                    </a:solidFill>
                  </a:tcPr>
                </a:tc>
                <a:tc>
                  <a:txBody>
                    <a:bodyPr/>
                    <a:lstStyle/>
                    <a:p>
                      <a:pPr marL="0" indent="0" algn="l">
                        <a:buNone/>
                      </a:pPr>
                      <a:r>
                        <a:rPr lang="en-US" sz="1200" b="1" dirty="0">
                          <a:solidFill>
                            <a:srgbClr val="FFFFFF"/>
                          </a:solidFill>
                        </a:rPr>
                        <a:t>Categoría real</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173F2B"/>
                    </a:solidFill>
                  </a:tcPr>
                </a:tc>
                <a:tc>
                  <a:txBody>
                    <a:bodyPr/>
                    <a:lstStyle/>
                    <a:p>
                      <a:pPr marL="0" indent="0" algn="l">
                        <a:buNone/>
                      </a:pPr>
                      <a:r>
                        <a:rPr lang="en-US" sz="1200" b="1" dirty="0">
                          <a:solidFill>
                            <a:srgbClr val="FFFFFF"/>
                          </a:solidFill>
                        </a:rPr>
                        <a:t>Predicción</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173F2B"/>
                    </a:solidFill>
                  </a:tcPr>
                </a:tc>
                <a:tc>
                  <a:txBody>
                    <a:bodyPr/>
                    <a:lstStyle/>
                    <a:p>
                      <a:pPr marL="0" indent="0" algn="l">
                        <a:buNone/>
                      </a:pPr>
                      <a:r>
                        <a:rPr lang="en-US" sz="1200" b="1" dirty="0">
                          <a:solidFill>
                            <a:srgbClr val="FFFFFF"/>
                          </a:solidFill>
                        </a:rPr>
                        <a:t>Resultado</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173F2B"/>
                    </a:solidFill>
                  </a:tcPr>
                </a:tc>
                <a:extLst>
                  <a:ext uri="{0D108BD9-81ED-4DB2-BD59-A6C34878D82A}">
                    <a16:rowId xmlns:a16="http://schemas.microsoft.com/office/drawing/2014/main" val="10000"/>
                  </a:ext>
                </a:extLst>
              </a:tr>
              <a:tr h="310896">
                <a:tc>
                  <a:txBody>
                    <a:bodyPr/>
                    <a:lstStyle/>
                    <a:p>
                      <a:pPr marL="0" indent="0" algn="l">
                        <a:buNone/>
                      </a:pPr>
                      <a:r>
                        <a:rPr lang="en-US" sz="1200" b="1" dirty="0">
                          <a:solidFill>
                            <a:srgbClr val="111714"/>
                          </a:solidFill>
                        </a:rPr>
                        <a:t>P1</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BE4E4"/>
                    </a:solidFill>
                  </a:tcPr>
                </a:tc>
                <a:tc>
                  <a:txBody>
                    <a:bodyPr/>
                    <a:lstStyle/>
                    <a:p>
                      <a:pPr marL="0" indent="0" algn="l">
                        <a:buNone/>
                      </a:pPr>
                      <a:r>
                        <a:rPr lang="en-US" sz="1200" b="1" dirty="0">
                          <a:solidFill>
                            <a:srgbClr val="111714"/>
                          </a:solidFill>
                        </a:rPr>
                        <a:t>Rebaba</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BE4E4"/>
                    </a:solidFill>
                  </a:tcPr>
                </a:tc>
                <a:tc>
                  <a:txBody>
                    <a:bodyPr/>
                    <a:lstStyle/>
                    <a:p>
                      <a:pPr marL="0" indent="0" algn="l">
                        <a:buNone/>
                      </a:pPr>
                      <a:r>
                        <a:rPr lang="en-US" sz="1200" b="1" dirty="0">
                          <a:solidFill>
                            <a:srgbClr val="111714"/>
                          </a:solidFill>
                        </a:rPr>
                        <a:t>Rayadura</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BE4E4"/>
                    </a:solidFill>
                  </a:tcPr>
                </a:tc>
                <a:tc>
                  <a:txBody>
                    <a:bodyPr/>
                    <a:lstStyle/>
                    <a:p>
                      <a:pPr marL="0" indent="0" algn="l">
                        <a:buNone/>
                      </a:pPr>
                      <a:r>
                        <a:rPr lang="en-US" sz="1200" b="1" dirty="0">
                          <a:solidFill>
                            <a:srgbClr val="B3261E"/>
                          </a:solidFill>
                        </a:rPr>
                        <a:t>Fallo</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BE4E4"/>
                    </a:solidFill>
                  </a:tcPr>
                </a:tc>
                <a:extLst>
                  <a:ext uri="{0D108BD9-81ED-4DB2-BD59-A6C34878D82A}">
                    <a16:rowId xmlns:a16="http://schemas.microsoft.com/office/drawing/2014/main" val="10001"/>
                  </a:ext>
                </a:extLst>
              </a:tr>
              <a:tr h="310896">
                <a:tc>
                  <a:txBody>
                    <a:bodyPr/>
                    <a:lstStyle/>
                    <a:p>
                      <a:pPr marL="0" indent="0" algn="l">
                        <a:buNone/>
                      </a:pPr>
                      <a:r>
                        <a:rPr lang="en-US" sz="1200" dirty="0">
                          <a:solidFill>
                            <a:srgbClr val="111714"/>
                          </a:solidFill>
                        </a:rPr>
                        <a:t>P2</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tc>
                  <a:txBody>
                    <a:bodyPr/>
                    <a:lstStyle/>
                    <a:p>
                      <a:pPr marL="0" indent="0" algn="l">
                        <a:buNone/>
                      </a:pPr>
                      <a:r>
                        <a:rPr lang="en-US" sz="1200" dirty="0">
                          <a:solidFill>
                            <a:srgbClr val="111714"/>
                          </a:solidFill>
                        </a:rPr>
                        <a:t>Rebaba</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tc>
                  <a:txBody>
                    <a:bodyPr/>
                    <a:lstStyle/>
                    <a:p>
                      <a:pPr marL="0" indent="0" algn="l">
                        <a:buNone/>
                      </a:pPr>
                      <a:r>
                        <a:rPr lang="en-US" sz="1200" dirty="0">
                          <a:solidFill>
                            <a:srgbClr val="111714"/>
                          </a:solidFill>
                        </a:rPr>
                        <a:t>Rebaba</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tc>
                  <a:txBody>
                    <a:bodyPr/>
                    <a:lstStyle/>
                    <a:p>
                      <a:pPr marL="0" indent="0" algn="l">
                        <a:buNone/>
                      </a:pPr>
                      <a:r>
                        <a:rPr lang="en-US" sz="1200" b="1" dirty="0">
                          <a:solidFill>
                            <a:srgbClr val="2B5D44"/>
                          </a:solidFill>
                        </a:rPr>
                        <a:t>Acierto</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extLst>
                  <a:ext uri="{0D108BD9-81ED-4DB2-BD59-A6C34878D82A}">
                    <a16:rowId xmlns:a16="http://schemas.microsoft.com/office/drawing/2014/main" val="10002"/>
                  </a:ext>
                </a:extLst>
              </a:tr>
              <a:tr h="310896">
                <a:tc>
                  <a:txBody>
                    <a:bodyPr/>
                    <a:lstStyle/>
                    <a:p>
                      <a:pPr marL="0" indent="0" algn="l">
                        <a:buNone/>
                      </a:pPr>
                      <a:r>
                        <a:rPr lang="en-US" sz="1200" dirty="0">
                          <a:solidFill>
                            <a:srgbClr val="111714"/>
                          </a:solidFill>
                        </a:rPr>
                        <a:t>P3</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714"/>
                          </a:solidFill>
                        </a:rPr>
                        <a:t>Pieza_OK</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714"/>
                          </a:solidFill>
                        </a:rPr>
                        <a:t>Pieza_OK</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B5D44"/>
                          </a:solidFill>
                        </a:rPr>
                        <a:t>Acierto</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200" dirty="0">
                          <a:solidFill>
                            <a:srgbClr val="111714"/>
                          </a:solidFill>
                        </a:rPr>
                        <a:t>P4</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tc>
                  <a:txBody>
                    <a:bodyPr/>
                    <a:lstStyle/>
                    <a:p>
                      <a:pPr marL="0" indent="0" algn="l">
                        <a:buNone/>
                      </a:pPr>
                      <a:r>
                        <a:rPr lang="en-US" sz="1200" dirty="0">
                          <a:solidFill>
                            <a:srgbClr val="111714"/>
                          </a:solidFill>
                        </a:rPr>
                        <a:t>Rebaba</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tc>
                  <a:txBody>
                    <a:bodyPr/>
                    <a:lstStyle/>
                    <a:p>
                      <a:pPr marL="0" indent="0" algn="l">
                        <a:buNone/>
                      </a:pPr>
                      <a:r>
                        <a:rPr lang="en-US" sz="1200" dirty="0">
                          <a:solidFill>
                            <a:srgbClr val="111714"/>
                          </a:solidFill>
                        </a:rPr>
                        <a:t>Rebaba</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tc>
                  <a:txBody>
                    <a:bodyPr/>
                    <a:lstStyle/>
                    <a:p>
                      <a:pPr marL="0" indent="0" algn="l">
                        <a:buNone/>
                      </a:pPr>
                      <a:r>
                        <a:rPr lang="en-US" sz="1200" b="1" dirty="0">
                          <a:solidFill>
                            <a:srgbClr val="2B5D44"/>
                          </a:solidFill>
                        </a:rPr>
                        <a:t>Acierto</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extLst>
                  <a:ext uri="{0D108BD9-81ED-4DB2-BD59-A6C34878D82A}">
                    <a16:rowId xmlns:a16="http://schemas.microsoft.com/office/drawing/2014/main" val="10004"/>
                  </a:ext>
                </a:extLst>
              </a:tr>
              <a:tr h="310896">
                <a:tc>
                  <a:txBody>
                    <a:bodyPr/>
                    <a:lstStyle/>
                    <a:p>
                      <a:pPr marL="0" indent="0" algn="l">
                        <a:buNone/>
                      </a:pPr>
                      <a:r>
                        <a:rPr lang="en-US" sz="1200" dirty="0">
                          <a:solidFill>
                            <a:srgbClr val="111714"/>
                          </a:solidFill>
                        </a:rPr>
                        <a:t>P5</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714"/>
                          </a:solidFill>
                        </a:rPr>
                        <a:t>Rayadura</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714"/>
                          </a:solidFill>
                        </a:rPr>
                        <a:t>Rayadura</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B5D44"/>
                          </a:solidFill>
                        </a:rPr>
                        <a:t>Acierto</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lgn="l">
                        <a:buNone/>
                      </a:pPr>
                      <a:r>
                        <a:rPr lang="en-US" sz="1200" dirty="0">
                          <a:solidFill>
                            <a:srgbClr val="111714"/>
                          </a:solidFill>
                        </a:rPr>
                        <a:t>P6</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tc>
                  <a:txBody>
                    <a:bodyPr/>
                    <a:lstStyle/>
                    <a:p>
                      <a:pPr marL="0" indent="0" algn="l">
                        <a:buNone/>
                      </a:pPr>
                      <a:r>
                        <a:rPr lang="en-US" sz="1200" dirty="0">
                          <a:solidFill>
                            <a:srgbClr val="111714"/>
                          </a:solidFill>
                        </a:rPr>
                        <a:t>Chatter</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tc>
                  <a:txBody>
                    <a:bodyPr/>
                    <a:lstStyle/>
                    <a:p>
                      <a:pPr marL="0" indent="0" algn="l">
                        <a:buNone/>
                      </a:pPr>
                      <a:r>
                        <a:rPr lang="en-US" sz="1200" dirty="0">
                          <a:solidFill>
                            <a:srgbClr val="111714"/>
                          </a:solidFill>
                        </a:rPr>
                        <a:t>Chatter</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tc>
                  <a:txBody>
                    <a:bodyPr/>
                    <a:lstStyle/>
                    <a:p>
                      <a:pPr marL="0" indent="0" algn="l">
                        <a:buNone/>
                      </a:pPr>
                      <a:r>
                        <a:rPr lang="en-US" sz="1200" b="1" dirty="0">
                          <a:solidFill>
                            <a:srgbClr val="2B5D44"/>
                          </a:solidFill>
                        </a:rPr>
                        <a:t>Acierto</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extLst>
                  <a:ext uri="{0D108BD9-81ED-4DB2-BD59-A6C34878D82A}">
                    <a16:rowId xmlns:a16="http://schemas.microsoft.com/office/drawing/2014/main" val="10006"/>
                  </a:ext>
                </a:extLst>
              </a:tr>
              <a:tr h="310896">
                <a:tc>
                  <a:txBody>
                    <a:bodyPr/>
                    <a:lstStyle/>
                    <a:p>
                      <a:pPr marL="0" indent="0" algn="l">
                        <a:buNone/>
                      </a:pPr>
                      <a:r>
                        <a:rPr lang="en-US" sz="1200" dirty="0">
                          <a:solidFill>
                            <a:srgbClr val="111714"/>
                          </a:solidFill>
                        </a:rPr>
                        <a:t>P7</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714"/>
                          </a:solidFill>
                        </a:rPr>
                        <a:t>Chatter</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714"/>
                          </a:solidFill>
                        </a:rPr>
                        <a:t>Chatter</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B5D44"/>
                          </a:solidFill>
                        </a:rPr>
                        <a:t>Acierto</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lgn="l">
                        <a:buNone/>
                      </a:pPr>
                      <a:r>
                        <a:rPr lang="en-US" sz="1200" dirty="0">
                          <a:solidFill>
                            <a:srgbClr val="111714"/>
                          </a:solidFill>
                        </a:rPr>
                        <a:t>P8</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tc>
                  <a:txBody>
                    <a:bodyPr/>
                    <a:lstStyle/>
                    <a:p>
                      <a:pPr marL="0" indent="0" algn="l">
                        <a:buNone/>
                      </a:pPr>
                      <a:r>
                        <a:rPr lang="en-US" sz="1200" dirty="0">
                          <a:solidFill>
                            <a:srgbClr val="111714"/>
                          </a:solidFill>
                        </a:rPr>
                        <a:t>Rayadura</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tc>
                  <a:txBody>
                    <a:bodyPr/>
                    <a:lstStyle/>
                    <a:p>
                      <a:pPr marL="0" indent="0" algn="l">
                        <a:buNone/>
                      </a:pPr>
                      <a:r>
                        <a:rPr lang="en-US" sz="1200" dirty="0">
                          <a:solidFill>
                            <a:srgbClr val="111714"/>
                          </a:solidFill>
                        </a:rPr>
                        <a:t>Rayadura</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tc>
                  <a:txBody>
                    <a:bodyPr/>
                    <a:lstStyle/>
                    <a:p>
                      <a:pPr marL="0" indent="0" algn="l">
                        <a:buNone/>
                      </a:pPr>
                      <a:r>
                        <a:rPr lang="en-US" sz="1200" b="1" dirty="0">
                          <a:solidFill>
                            <a:srgbClr val="2B5D44"/>
                          </a:solidFill>
                        </a:rPr>
                        <a:t>Acierto</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EEF4F0"/>
                    </a:solidFill>
                  </a:tcPr>
                </a:tc>
                <a:extLst>
                  <a:ext uri="{0D108BD9-81ED-4DB2-BD59-A6C34878D82A}">
                    <a16:rowId xmlns:a16="http://schemas.microsoft.com/office/drawing/2014/main" val="10008"/>
                  </a:ext>
                </a:extLst>
              </a:tr>
              <a:tr h="310896">
                <a:tc>
                  <a:txBody>
                    <a:bodyPr/>
                    <a:lstStyle/>
                    <a:p>
                      <a:pPr marL="0" indent="0" algn="l">
                        <a:buNone/>
                      </a:pPr>
                      <a:r>
                        <a:rPr lang="en-US" sz="1200" dirty="0">
                          <a:solidFill>
                            <a:srgbClr val="111714"/>
                          </a:solidFill>
                        </a:rPr>
                        <a:t>P9</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714"/>
                          </a:solidFill>
                        </a:rPr>
                        <a:t>Chatter</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714"/>
                          </a:solidFill>
                        </a:rPr>
                        <a:t>Chatter</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B5D44"/>
                          </a:solidFill>
                        </a:rPr>
                        <a:t>Acierto</a:t>
                      </a:r>
                      <a:endParaRPr lang="en-US" sz="1200" dirty="0"/>
                    </a:p>
                  </a:txBody>
                  <a:tcPr marL="73152" marR="73152" marT="18288" marB="18288" anchor="ctr">
                    <a:lnL w="6350" cap="flat" cmpd="sng" algn="ctr">
                      <a:solidFill>
                        <a:srgbClr val="D5DFD8"/>
                      </a:solidFill>
                      <a:prstDash val="solid"/>
                      <a:round/>
                      <a:headEnd type="none" w="med" len="med"/>
                      <a:tailEnd type="none" w="med" len="med"/>
                    </a:lnL>
                    <a:lnR w="6350" cap="flat" cmpd="sng" algn="ctr">
                      <a:solidFill>
                        <a:srgbClr val="D5DFD8"/>
                      </a:solidFill>
                      <a:prstDash val="solid"/>
                      <a:round/>
                      <a:headEnd type="none" w="med" len="med"/>
                      <a:tailEnd type="none" w="med" len="med"/>
                    </a:lnR>
                    <a:lnT w="6350" cap="flat" cmpd="sng" algn="ctr">
                      <a:solidFill>
                        <a:srgbClr val="D5DFD8"/>
                      </a:solidFill>
                      <a:prstDash val="solid"/>
                      <a:round/>
                      <a:headEnd type="none" w="med" len="med"/>
                      <a:tailEnd type="none" w="med" len="med"/>
                    </a:lnT>
                    <a:lnB w="635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lIns="0" tIns="0" rIns="0" bIns="0" rtlCol="0" anchor="ctr"/>
          <a:lstStyle/>
          <a:p>
            <a:pPr marL="0" indent="0" algn="l">
              <a:buNone/>
            </a:pPr>
            <a:r>
              <a:rPr lang="en-US" sz="3600" b="1" dirty="0">
                <a:solidFill>
                  <a:schemeClr val="tx2"/>
                </a:solidFill>
              </a:rPr>
              <a:t>Limitaciones y mejoras</a:t>
            </a:r>
            <a:endParaRPr lang="en-US" sz="3600" dirty="0"/>
          </a:p>
        </p:txBody>
      </p:sp>
      <p:sp>
        <p:nvSpPr>
          <p:cNvPr id="3" name="Columna Limitaciones"/>
          <p:cNvSpPr/>
          <p:nvPr/>
        </p:nvSpPr>
        <p:spPr>
          <a:xfrm>
            <a:off x="457200" y="1325880"/>
            <a:ext cx="3931920" cy="3108960"/>
          </a:xfrm>
          <a:prstGeom prst="roundRect">
            <a:avLst>
              <a:gd name="adj" fmla="val 3529"/>
            </a:avLst>
          </a:prstGeom>
          <a:solidFill>
            <a:schemeClr val="bg2"/>
          </a:solidFill>
          <a:ln/>
        </p:spPr>
      </p:sp>
      <p:sp>
        <p:nvSpPr>
          <p:cNvPr id="4" name="Ícono Limitaciones (círculo)"/>
          <p:cNvSpPr/>
          <p:nvPr/>
        </p:nvSpPr>
        <p:spPr>
          <a:xfrm>
            <a:off x="685800" y="1508760"/>
            <a:ext cx="502920" cy="502920"/>
          </a:xfrm>
          <a:prstGeom prst="ellipse">
            <a:avLst/>
          </a:prstGeom>
          <a:solidFill>
            <a:schemeClr val="tx2"/>
          </a:solidFill>
          <a:ln/>
        </p:spPr>
      </p:sp>
      <p:pic>
        <p:nvPicPr>
          <p:cNvPr id="5" name="Ícono Limitaciones" descr="Ícono Limitaciones"/>
          <p:cNvPicPr>
            <a:picLocks noChangeAspect="1"/>
          </p:cNvPicPr>
          <p:nvPr/>
        </p:nvPicPr>
        <p:blipFill>
          <a:blip r:embed="rId3"/>
          <a:stretch>
            <a:fillRect/>
          </a:stretch>
        </p:blipFill>
        <p:spPr>
          <a:xfrm>
            <a:off x="816559" y="1639519"/>
            <a:ext cx="241402" cy="241402"/>
          </a:xfrm>
          <a:prstGeom prst="rect">
            <a:avLst/>
          </a:prstGeom>
        </p:spPr>
      </p:pic>
      <p:sp>
        <p:nvSpPr>
          <p:cNvPr id="6" name="Text 3"/>
          <p:cNvSpPr txBox="1"/>
          <p:nvPr/>
        </p:nvSpPr>
        <p:spPr>
          <a:xfrm>
            <a:off x="1371600" y="1508760"/>
            <a:ext cx="2743200" cy="502920"/>
          </a:xfrm>
          <a:prstGeom prst="rect">
            <a:avLst/>
          </a:prstGeom>
          <a:noFill/>
          <a:ln/>
        </p:spPr>
        <p:txBody>
          <a:bodyPr wrap="square" lIns="0" tIns="0" rIns="0" bIns="0" rtlCol="0" anchor="ctr"/>
          <a:lstStyle/>
          <a:p>
            <a:pPr marL="0" indent="0">
              <a:buNone/>
            </a:pPr>
            <a:r>
              <a:rPr lang="en-US" sz="2000" b="1" dirty="0">
                <a:solidFill>
                  <a:schemeClr val="tx2"/>
                </a:solidFill>
              </a:rPr>
              <a:t>Limitaciones</a:t>
            </a:r>
            <a:endParaRPr lang="en-US" sz="2000" dirty="0"/>
          </a:p>
        </p:txBody>
      </p:sp>
      <p:sp>
        <p:nvSpPr>
          <p:cNvPr id="7" name="Text 4"/>
          <p:cNvSpPr txBox="1"/>
          <p:nvPr/>
        </p:nvSpPr>
        <p:spPr>
          <a:xfrm>
            <a:off x="685800" y="2240280"/>
            <a:ext cx="3474720" cy="20574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Muestra de solo 9 piezas.</a:t>
            </a:r>
            <a:endParaRPr lang="en-US" sz="1600" dirty="0"/>
          </a:p>
          <a:p>
            <a:pPr marL="342900" indent="-342900">
              <a:spcAft>
                <a:spcPts val="600"/>
              </a:spcAft>
              <a:buSzPct val="100000"/>
              <a:buChar char="•"/>
            </a:pPr>
            <a:r>
              <a:rPr lang="en-US" sz="1600" dirty="0">
                <a:solidFill>
                  <a:schemeClr val="tx1"/>
                </a:solidFill>
              </a:rPr>
              <a:t>Confusión entre rebaba y rayadura.</a:t>
            </a:r>
            <a:endParaRPr lang="en-US" sz="1600" dirty="0"/>
          </a:p>
          <a:p>
            <a:pPr marL="342900" indent="-342900">
              <a:spcAft>
                <a:spcPts val="600"/>
              </a:spcAft>
              <a:buSzPct val="100000"/>
              <a:buChar char="•"/>
            </a:pPr>
            <a:r>
              <a:rPr lang="en-US" sz="1600" dirty="0">
                <a:solidFill>
                  <a:schemeClr val="tx1"/>
                </a:solidFill>
              </a:rPr>
              <a:t>Sin pruebas sistemáticas con distinta iluminación u orientación.</a:t>
            </a:r>
            <a:endParaRPr lang="en-US" sz="1600" dirty="0"/>
          </a:p>
        </p:txBody>
      </p:sp>
      <p:sp>
        <p:nvSpPr>
          <p:cNvPr id="8" name="Columna Próximos pasos"/>
          <p:cNvSpPr/>
          <p:nvPr/>
        </p:nvSpPr>
        <p:spPr>
          <a:xfrm>
            <a:off x="4754880" y="1325880"/>
            <a:ext cx="3931920" cy="3108960"/>
          </a:xfrm>
          <a:prstGeom prst="roundRect">
            <a:avLst>
              <a:gd name="adj" fmla="val 3529"/>
            </a:avLst>
          </a:prstGeom>
          <a:solidFill>
            <a:schemeClr val="bg2"/>
          </a:solidFill>
          <a:ln/>
        </p:spPr>
      </p:sp>
      <p:sp>
        <p:nvSpPr>
          <p:cNvPr id="9" name="Ícono Próximos pasos (círculo)"/>
          <p:cNvSpPr/>
          <p:nvPr/>
        </p:nvSpPr>
        <p:spPr>
          <a:xfrm>
            <a:off x="4983480" y="1508760"/>
            <a:ext cx="502920" cy="502920"/>
          </a:xfrm>
          <a:prstGeom prst="ellipse">
            <a:avLst/>
          </a:prstGeom>
          <a:solidFill>
            <a:schemeClr val="tx2"/>
          </a:solidFill>
          <a:ln/>
        </p:spPr>
      </p:sp>
      <p:pic>
        <p:nvPicPr>
          <p:cNvPr id="10" name="Ícono Próximos pasos" descr="Ícono Próximos pasos"/>
          <p:cNvPicPr>
            <a:picLocks noChangeAspect="1"/>
          </p:cNvPicPr>
          <p:nvPr/>
        </p:nvPicPr>
        <p:blipFill>
          <a:blip r:embed="rId4"/>
          <a:stretch>
            <a:fillRect/>
          </a:stretch>
        </p:blipFill>
        <p:spPr>
          <a:xfrm>
            <a:off x="5114239" y="1639519"/>
            <a:ext cx="241402" cy="241402"/>
          </a:xfrm>
          <a:prstGeom prst="rect">
            <a:avLst/>
          </a:prstGeom>
        </p:spPr>
      </p:pic>
      <p:sp>
        <p:nvSpPr>
          <p:cNvPr id="11" name="Text 7"/>
          <p:cNvSpPr txBox="1"/>
          <p:nvPr/>
        </p:nvSpPr>
        <p:spPr>
          <a:xfrm>
            <a:off x="5669280" y="1508760"/>
            <a:ext cx="2743200" cy="502920"/>
          </a:xfrm>
          <a:prstGeom prst="rect">
            <a:avLst/>
          </a:prstGeom>
          <a:noFill/>
          <a:ln/>
        </p:spPr>
        <p:txBody>
          <a:bodyPr wrap="square" lIns="0" tIns="0" rIns="0" bIns="0" rtlCol="0" anchor="ctr"/>
          <a:lstStyle/>
          <a:p>
            <a:pPr marL="0" indent="0">
              <a:buNone/>
            </a:pPr>
            <a:r>
              <a:rPr lang="en-US" sz="2000" b="1" dirty="0">
                <a:solidFill>
                  <a:schemeClr val="tx2"/>
                </a:solidFill>
              </a:rPr>
              <a:t>Próximos pasos</a:t>
            </a:r>
            <a:endParaRPr lang="en-US" sz="2000" dirty="0"/>
          </a:p>
        </p:txBody>
      </p:sp>
      <p:sp>
        <p:nvSpPr>
          <p:cNvPr id="12" name="Text 8"/>
          <p:cNvSpPr txBox="1"/>
          <p:nvPr/>
        </p:nvSpPr>
        <p:spPr>
          <a:xfrm>
            <a:off x="4983480" y="2240280"/>
            <a:ext cx="3474720" cy="20574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Ampliar el dataset y las pruebas.</a:t>
            </a:r>
            <a:endParaRPr lang="en-US" sz="1600" dirty="0"/>
          </a:p>
          <a:p>
            <a:pPr marL="342900" indent="-342900">
              <a:spcAft>
                <a:spcPts val="600"/>
              </a:spcAft>
              <a:buSzPct val="100000"/>
              <a:buChar char="•"/>
            </a:pPr>
            <a:r>
              <a:rPr lang="en-US" sz="1600" dirty="0">
                <a:solidFill>
                  <a:schemeClr val="tx1"/>
                </a:solidFill>
              </a:rPr>
              <a:t>Más ejemplos de rebaba y rayadura.</a:t>
            </a:r>
            <a:endParaRPr lang="en-US" sz="1600" dirty="0"/>
          </a:p>
          <a:p>
            <a:pPr marL="342900" indent="-342900">
              <a:spcAft>
                <a:spcPts val="600"/>
              </a:spcAft>
              <a:buSzPct val="100000"/>
              <a:buChar char="•"/>
            </a:pPr>
            <a:r>
              <a:rPr lang="en-US" sz="1600" dirty="0">
                <a:solidFill>
                  <a:schemeClr val="tx1"/>
                </a:solidFill>
              </a:rPr>
              <a:t>Registrar las predicciones de forma sistemática.</a:t>
            </a:r>
            <a:endParaRPr lang="en-US" sz="1600" dirty="0"/>
          </a:p>
          <a:p>
            <a:pPr marL="342900" indent="-342900">
              <a:spcAft>
                <a:spcPts val="600"/>
              </a:spcAft>
              <a:buSzPct val="100000"/>
              <a:buChar char="•"/>
            </a:pPr>
            <a:r>
              <a:rPr lang="en-US" sz="1600" dirty="0" err="1">
                <a:solidFill>
                  <a:schemeClr val="tx1"/>
                </a:solidFill>
              </a:rPr>
              <a:t>Automatizaci</a:t>
            </a:r>
            <a:r>
              <a:rPr lang="en-US" sz="1600" dirty="0" err="1"/>
              <a:t>on</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168"/>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77240"/>
          </a:xfrm>
          <a:prstGeom prst="rect">
            <a:avLst/>
          </a:prstGeom>
          <a:noFill/>
          <a:ln/>
        </p:spPr>
        <p:txBody>
          <a:bodyPr wrap="square" lIns="0" tIns="0" rIns="0" bIns="0" rtlCol="0" anchor="ctr"/>
          <a:lstStyle/>
          <a:p>
            <a:pPr marL="0" indent="0" algn="l">
              <a:buNone/>
            </a:pPr>
            <a:r>
              <a:rPr lang="en-US" sz="3600" b="1" dirty="0">
                <a:solidFill>
                  <a:schemeClr val="bg1"/>
                </a:solidFill>
              </a:rPr>
              <a:t>Conclusiones</a:t>
            </a:r>
            <a:endParaRPr lang="en-US" sz="3600" dirty="0"/>
          </a:p>
        </p:txBody>
      </p:sp>
      <p:sp>
        <p:nvSpPr>
          <p:cNvPr id="3" name="Text 1"/>
          <p:cNvSpPr txBox="1"/>
          <p:nvPr/>
        </p:nvSpPr>
        <p:spPr>
          <a:xfrm>
            <a:off x="457200" y="1280160"/>
            <a:ext cx="548640" cy="731520"/>
          </a:xfrm>
          <a:prstGeom prst="rect">
            <a:avLst/>
          </a:prstGeom>
          <a:noFill/>
          <a:ln/>
        </p:spPr>
        <p:txBody>
          <a:bodyPr wrap="square" lIns="0" tIns="0" rIns="0" bIns="0" rtlCol="0" anchor="ctr"/>
          <a:lstStyle/>
          <a:p>
            <a:pPr marL="0" indent="0">
              <a:buNone/>
            </a:pPr>
            <a:r>
              <a:rPr lang="en-US" sz="3600" b="1" dirty="0">
                <a:solidFill>
                  <a:schemeClr val="accent6"/>
                </a:solidFill>
              </a:rPr>
              <a:t>1</a:t>
            </a:r>
            <a:endParaRPr lang="en-US" sz="3600" dirty="0"/>
          </a:p>
        </p:txBody>
      </p:sp>
      <p:sp>
        <p:nvSpPr>
          <p:cNvPr id="4" name="Text 2"/>
          <p:cNvSpPr txBox="1"/>
          <p:nvPr/>
        </p:nvSpPr>
        <p:spPr>
          <a:xfrm>
            <a:off x="1188720" y="1280160"/>
            <a:ext cx="7498080" cy="731520"/>
          </a:xfrm>
          <a:prstGeom prst="rect">
            <a:avLst/>
          </a:prstGeom>
          <a:noFill/>
          <a:ln/>
        </p:spPr>
        <p:txBody>
          <a:bodyPr wrap="square" lIns="0" tIns="0" rIns="0" bIns="0" rtlCol="0" anchor="ctr"/>
          <a:lstStyle/>
          <a:p>
            <a:pPr marL="0" indent="0">
              <a:buNone/>
            </a:pPr>
            <a:r>
              <a:rPr lang="en-US" sz="1600" dirty="0">
                <a:solidFill>
                  <a:schemeClr val="bg1"/>
                </a:solidFill>
              </a:rPr>
              <a:t>QC Vision integra modelo, cámara e interfaz en un prototipo funcional de apoyo a la inspección visual.</a:t>
            </a:r>
            <a:endParaRPr lang="en-US" sz="1600" dirty="0"/>
          </a:p>
        </p:txBody>
      </p:sp>
      <p:sp>
        <p:nvSpPr>
          <p:cNvPr id="5" name="Text 3"/>
          <p:cNvSpPr txBox="1"/>
          <p:nvPr/>
        </p:nvSpPr>
        <p:spPr>
          <a:xfrm>
            <a:off x="457200" y="2148840"/>
            <a:ext cx="548640" cy="731520"/>
          </a:xfrm>
          <a:prstGeom prst="rect">
            <a:avLst/>
          </a:prstGeom>
          <a:noFill/>
          <a:ln/>
        </p:spPr>
        <p:txBody>
          <a:bodyPr wrap="square" lIns="0" tIns="0" rIns="0" bIns="0" rtlCol="0" anchor="ctr"/>
          <a:lstStyle/>
          <a:p>
            <a:pPr marL="0" indent="0">
              <a:buNone/>
            </a:pPr>
            <a:r>
              <a:rPr lang="en-US" sz="3600" b="1" dirty="0">
                <a:solidFill>
                  <a:schemeClr val="accent6"/>
                </a:solidFill>
              </a:rPr>
              <a:t>2</a:t>
            </a:r>
            <a:endParaRPr lang="en-US" sz="3600" dirty="0"/>
          </a:p>
        </p:txBody>
      </p:sp>
      <p:sp>
        <p:nvSpPr>
          <p:cNvPr id="6" name="Text 4"/>
          <p:cNvSpPr txBox="1"/>
          <p:nvPr/>
        </p:nvSpPr>
        <p:spPr>
          <a:xfrm>
            <a:off x="1188720" y="2148840"/>
            <a:ext cx="7498080" cy="731520"/>
          </a:xfrm>
          <a:prstGeom prst="rect">
            <a:avLst/>
          </a:prstGeom>
          <a:noFill/>
          <a:ln/>
        </p:spPr>
        <p:txBody>
          <a:bodyPr wrap="square" lIns="0" tIns="0" rIns="0" bIns="0" rtlCol="0" anchor="ctr"/>
          <a:lstStyle/>
          <a:p>
            <a:pPr marL="0" indent="0">
              <a:buNone/>
            </a:pPr>
            <a:r>
              <a:rPr lang="en-US" sz="1600" dirty="0">
                <a:solidFill>
                  <a:schemeClr val="bg1"/>
                </a:solidFill>
              </a:rPr>
              <a:t>En 9 piezas de prueba acertó 8 (88,89 %); el error fue una rebaba clasificada como rayadura.</a:t>
            </a:r>
            <a:endParaRPr lang="en-US" sz="1600" dirty="0"/>
          </a:p>
        </p:txBody>
      </p:sp>
      <p:sp>
        <p:nvSpPr>
          <p:cNvPr id="7" name="Text 5"/>
          <p:cNvSpPr txBox="1"/>
          <p:nvPr/>
        </p:nvSpPr>
        <p:spPr>
          <a:xfrm>
            <a:off x="457200" y="3017520"/>
            <a:ext cx="548640" cy="731520"/>
          </a:xfrm>
          <a:prstGeom prst="rect">
            <a:avLst/>
          </a:prstGeom>
          <a:noFill/>
          <a:ln/>
        </p:spPr>
        <p:txBody>
          <a:bodyPr wrap="square" lIns="0" tIns="0" rIns="0" bIns="0" rtlCol="0" anchor="ctr"/>
          <a:lstStyle/>
          <a:p>
            <a:pPr marL="0" indent="0">
              <a:buNone/>
            </a:pPr>
            <a:r>
              <a:rPr lang="en-US" sz="3600" b="1" dirty="0">
                <a:solidFill>
                  <a:schemeClr val="accent6"/>
                </a:solidFill>
              </a:rPr>
              <a:t>3</a:t>
            </a:r>
            <a:endParaRPr lang="en-US" sz="3600" dirty="0"/>
          </a:p>
        </p:txBody>
      </p:sp>
      <p:sp>
        <p:nvSpPr>
          <p:cNvPr id="8" name="Text 6"/>
          <p:cNvSpPr txBox="1"/>
          <p:nvPr/>
        </p:nvSpPr>
        <p:spPr>
          <a:xfrm>
            <a:off x="1188720" y="3017520"/>
            <a:ext cx="7498080" cy="731520"/>
          </a:xfrm>
          <a:prstGeom prst="rect">
            <a:avLst/>
          </a:prstGeom>
          <a:noFill/>
          <a:ln/>
        </p:spPr>
        <p:txBody>
          <a:bodyPr wrap="square" lIns="0" tIns="0" rIns="0" bIns="0" rtlCol="0" anchor="ctr"/>
          <a:lstStyle/>
          <a:p>
            <a:pPr marL="0" indent="0">
              <a:buNone/>
            </a:pPr>
            <a:r>
              <a:rPr lang="en-US" sz="1600" dirty="0">
                <a:solidFill>
                  <a:schemeClr val="bg1"/>
                </a:solidFill>
              </a:rPr>
              <a:t>Ampliar el dataset y las pruebas permitirá evaluarlo con mayor precisión para uso industrial.</a:t>
            </a:r>
            <a:endParaRPr lang="en-US" sz="1600" dirty="0"/>
          </a:p>
        </p:txBody>
      </p:sp>
      <p:sp>
        <p:nvSpPr>
          <p:cNvPr id="9" name="Text 7"/>
          <p:cNvSpPr txBox="1"/>
          <p:nvPr/>
        </p:nvSpPr>
        <p:spPr>
          <a:xfrm>
            <a:off x="457200" y="4023360"/>
            <a:ext cx="8229600" cy="640080"/>
          </a:xfrm>
          <a:prstGeom prst="rect">
            <a:avLst/>
          </a:prstGeom>
          <a:noFill/>
          <a:ln/>
        </p:spPr>
        <p:txBody>
          <a:bodyPr wrap="square" lIns="0" tIns="0" rIns="0" bIns="0" rtlCol="0" anchor="ctr"/>
          <a:lstStyle/>
          <a:p>
            <a:pPr marL="0" indent="0">
              <a:buNone/>
            </a:pPr>
            <a:r>
              <a:rPr lang="en-US" sz="2800" b="1" dirty="0">
                <a:solidFill>
                  <a:schemeClr val="accent6"/>
                </a:solidFill>
              </a:rPr>
              <a:t>Gracias. ¿Preguntas?</a:t>
            </a:r>
            <a:endParaRPr lang="en-US" sz="2800" dirty="0"/>
          </a:p>
        </p:txBody>
      </p:sp>
    </p:spTree>
  </p:cSld>
  <p:clrMapOvr>
    <a:masterClrMapping/>
  </p:clrMapOvr>
</p:sld>
</file>

<file path=ppt/theme/theme1.xml><?xml version="1.0" encoding="utf-8"?>
<a:theme xmlns:a="http://schemas.openxmlformats.org/drawingml/2006/main" name="QC Vision">
  <a:themeElements>
    <a:clrScheme name="QC Vision">
      <a:dk1>
        <a:srgbClr val="111714"/>
      </a:dk1>
      <a:lt1>
        <a:srgbClr val="FFFFFF"/>
      </a:lt1>
      <a:dk2>
        <a:srgbClr val="173F2B"/>
      </a:dk2>
      <a:lt2>
        <a:srgbClr val="EEF4F0"/>
      </a:lt2>
      <a:accent1>
        <a:srgbClr val="1E9E5A"/>
      </a:accent1>
      <a:accent2>
        <a:srgbClr val="F5C451"/>
      </a:accent2>
      <a:accent3>
        <a:srgbClr val="E5484D"/>
      </a:accent3>
      <a:accent4>
        <a:srgbClr val="5F7168"/>
      </a:accent4>
      <a:accent5>
        <a:srgbClr val="2B5D44"/>
      </a:accent5>
      <a:accent6>
        <a:srgbClr val="35D07F"/>
      </a:accent6>
      <a:hlink>
        <a:srgbClr val="1E9E5A"/>
      </a:hlink>
      <a:folHlink>
        <a:srgbClr val="5F7168"/>
      </a:folHlink>
    </a:clrScheme>
    <a:fontScheme name="QC 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TotalTime>
  <Words>1452</Words>
  <Application>Microsoft Office PowerPoint</Application>
  <PresentationFormat>Presentación en pantalla (16:9)</PresentationFormat>
  <Paragraphs>200</Paragraphs>
  <Slides>13</Slides>
  <Notes>13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Calibri</vt:lpstr>
      <vt:lpstr>QC Vision</vt:lpstr>
      <vt:lpstr>Sistema de control de calidad de piezas mecanizadas mediante visión artificial</vt:lpstr>
      <vt:lpstr>El problema</vt:lpstr>
      <vt:lpstr>Objetivo del proyecto</vt:lpstr>
      <vt:lpstr>Los tres defectos a detectar</vt:lpstr>
      <vt:lpstr>Metodología</vt:lpstr>
      <vt:lpstr>Dataset propio</vt:lpstr>
      <vt:lpstr>Entrenamiento del modelo</vt:lpstr>
      <vt:lpstr>Cómo clasifica QC Vision</vt:lpstr>
      <vt:lpstr>Interfaz de QC Vision</vt:lpstr>
      <vt:lpstr>Pruebas del sistema</vt:lpstr>
      <vt:lpstr>Resultados</vt:lpstr>
      <vt:lpstr>Limitaciones y mejoras</vt:lpstr>
      <vt:lpstr>Conclusiones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QC Vision</dc:title>
  <dc:subject>PptxGenJS Presentation</dc:subject>
  <dc:creator>María Belén Satt Rivera</dc:creator>
  <cp:lastModifiedBy>Maria Belen Satt Rivera</cp:lastModifiedBy>
  <cp:revision>3</cp:revision>
  <dcterms:created xsi:type="dcterms:W3CDTF">2026-10-17T09:53:36Z</dcterms:created>
  <dcterms:modified xsi:type="dcterms:W3CDTF">2026-10-17T13:44:03Z</dcterms:modified>
</cp:coreProperties>
</file>